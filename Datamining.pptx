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84" r:id="rId5"/>
    <p:sldId id="286" r:id="rId6"/>
    <p:sldId id="259" r:id="rId7"/>
    <p:sldId id="274" r:id="rId8"/>
    <p:sldId id="287" r:id="rId9"/>
    <p:sldId id="279" r:id="rId10"/>
    <p:sldId id="288" r:id="rId11"/>
    <p:sldId id="290" r:id="rId12"/>
    <p:sldId id="282" r:id="rId13"/>
    <p:sldId id="291" r:id="rId14"/>
    <p:sldId id="292" r:id="rId15"/>
    <p:sldId id="269" r:id="rId16"/>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69" d="100"/>
          <a:sy n="69" d="100"/>
        </p:scale>
        <p:origin x="169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26-03-2026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2</a:t>
            </a:fld>
            <a:endParaRPr lang="en-IN"/>
          </a:p>
        </p:txBody>
      </p:sp>
    </p:spTree>
    <p:extLst>
      <p:ext uri="{BB962C8B-B14F-4D97-AF65-F5344CB8AC3E}">
        <p14:creationId xmlns:p14="http://schemas.microsoft.com/office/powerpoint/2010/main" val="1440295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Mining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256020"/>
          </a:xfrm>
          <a:prstGeom prst="rect">
            <a:avLst/>
          </a:prstGeom>
        </p:spPr>
        <p:txBody>
          <a:bodyPr vert="horz" wrap="square" lIns="0" tIns="16510" rIns="0" bIns="0" rtlCol="0">
            <a:spAutoFit/>
          </a:bodyPr>
          <a:lstStyle/>
          <a:p>
            <a:pPr algn="ctr">
              <a:lnSpc>
                <a:spcPct val="100000"/>
              </a:lnSpc>
              <a:spcBef>
                <a:spcPts val="130"/>
              </a:spcBef>
            </a:pPr>
            <a:r>
              <a:rPr lang="en-US" sz="2400" spc="-25" dirty="0">
                <a:solidFill>
                  <a:srgbClr val="FF0000"/>
                </a:solidFill>
                <a:latin typeface="Times New Roman" panose="02020603050405020304" pitchFamily="18" charset="0"/>
                <a:cs typeface="Times New Roman" panose="02020603050405020304" pitchFamily="18" charset="0"/>
              </a:rPr>
              <a:t>ROAD ACCIDENTS ANALYSIS SYSTEM</a:t>
            </a:r>
            <a:endParaRPr lang="en-IN" sz="2400" spc="-25" dirty="0">
              <a:solidFill>
                <a:srgbClr val="FF0000"/>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lang="pt-BR" sz="2400" dirty="0">
                <a:latin typeface="Times New Roman" panose="02020603050405020304" pitchFamily="18" charset="0"/>
                <a:cs typeface="Times New Roman" panose="02020603050405020304" pitchFamily="18" charset="0"/>
              </a:rPr>
              <a:t>Kadali swarna latha (24B11A1151) </a:t>
            </a:r>
            <a:endParaRPr lang="en-IN" sz="240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lang="en-IN" sz="2400" dirty="0" err="1">
                <a:latin typeface="Times New Roman" panose="02020603050405020304" pitchFamily="18" charset="0"/>
                <a:cs typeface="Times New Roman" panose="02020603050405020304" pitchFamily="18" charset="0"/>
              </a:rPr>
              <a:t>Madabattula</a:t>
            </a:r>
            <a:r>
              <a:rPr lang="en-IN" sz="2400" dirty="0">
                <a:latin typeface="Times New Roman" panose="02020603050405020304" pitchFamily="18" charset="0"/>
                <a:cs typeface="Times New Roman" panose="02020603050405020304" pitchFamily="18" charset="0"/>
              </a:rPr>
              <a:t> Tejo </a:t>
            </a:r>
            <a:r>
              <a:rPr lang="en-IN" sz="2400" dirty="0" err="1">
                <a:latin typeface="Times New Roman" panose="02020603050405020304" pitchFamily="18" charset="0"/>
                <a:cs typeface="Times New Roman" panose="02020603050405020304" pitchFamily="18" charset="0"/>
              </a:rPr>
              <a:t>hasini</a:t>
            </a:r>
            <a:r>
              <a:rPr lang="en-IN" sz="2400" dirty="0">
                <a:latin typeface="Times New Roman" panose="02020603050405020304" pitchFamily="18" charset="0"/>
                <a:cs typeface="Times New Roman" panose="02020603050405020304" pitchFamily="18" charset="0"/>
              </a:rPr>
              <a:t> (24B11A1223)</a:t>
            </a:r>
          </a:p>
          <a:p>
            <a:pPr marL="1270" algn="ctr">
              <a:lnSpc>
                <a:spcPct val="100000"/>
              </a:lnSpc>
              <a:spcBef>
                <a:spcPts val="994"/>
              </a:spcBef>
            </a:pPr>
            <a:r>
              <a:rPr lang="en-IN" sz="2400" dirty="0" err="1">
                <a:latin typeface="Times New Roman" panose="02020603050405020304" pitchFamily="18" charset="0"/>
                <a:cs typeface="Times New Roman" panose="02020603050405020304" pitchFamily="18" charset="0"/>
              </a:rPr>
              <a:t>Oduri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bheemeswari</a:t>
            </a:r>
            <a:r>
              <a:rPr lang="en-IN" sz="2400" dirty="0">
                <a:latin typeface="Times New Roman" panose="02020603050405020304" pitchFamily="18" charset="0"/>
                <a:cs typeface="Times New Roman" panose="02020603050405020304" pitchFamily="18" charset="0"/>
              </a:rPr>
              <a:t> (24B11AI305) </a:t>
            </a:r>
          </a:p>
          <a:p>
            <a:pPr marL="1270" algn="ctr">
              <a:lnSpc>
                <a:spcPct val="100000"/>
              </a:lnSpc>
              <a:spcBef>
                <a:spcPts val="994"/>
              </a:spcBef>
            </a:pPr>
            <a:r>
              <a:rPr lang="en-IN" sz="2400" dirty="0">
                <a:latin typeface="Times New Roman" panose="02020603050405020304" pitchFamily="18" charset="0"/>
                <a:cs typeface="Times New Roman" panose="02020603050405020304" pitchFamily="18" charset="0"/>
              </a:rPr>
              <a:t>Padala </a:t>
            </a:r>
            <a:r>
              <a:rPr lang="en-IN" sz="2400" dirty="0" err="1">
                <a:latin typeface="Times New Roman" panose="02020603050405020304" pitchFamily="18" charset="0"/>
                <a:cs typeface="Times New Roman" panose="02020603050405020304" pitchFamily="18" charset="0"/>
              </a:rPr>
              <a:t>tapasya</a:t>
            </a:r>
            <a:r>
              <a:rPr lang="en-IN" sz="2400" dirty="0">
                <a:latin typeface="Times New Roman" panose="02020603050405020304" pitchFamily="18" charset="0"/>
                <a:cs typeface="Times New Roman" panose="02020603050405020304" pitchFamily="18" charset="0"/>
              </a:rPr>
              <a:t> (24B11A1313) </a:t>
            </a:r>
            <a:endParaRPr lang="en-IN" sz="240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sz="2400" dirty="0">
                <a:solidFill>
                  <a:srgbClr val="943735"/>
                </a:solidFill>
                <a:latin typeface="Times New Roman" panose="02020603050405020304" pitchFamily="18" charset="0"/>
                <a:cs typeface="Times New Roman" panose="02020603050405020304" pitchFamily="18" charset="0"/>
              </a:rPr>
              <a:t>Department</a:t>
            </a:r>
            <a:r>
              <a:rPr sz="2400" spc="-60" dirty="0">
                <a:solidFill>
                  <a:srgbClr val="943735"/>
                </a:solidFill>
                <a:latin typeface="Times New Roman" panose="02020603050405020304" pitchFamily="18" charset="0"/>
                <a:cs typeface="Times New Roman" panose="02020603050405020304" pitchFamily="18" charset="0"/>
              </a:rPr>
              <a:t> </a:t>
            </a:r>
            <a:r>
              <a:rPr sz="2400" dirty="0">
                <a:solidFill>
                  <a:srgbClr val="943735"/>
                </a:solidFill>
                <a:latin typeface="Times New Roman" panose="02020603050405020304" pitchFamily="18" charset="0"/>
                <a:cs typeface="Times New Roman" panose="02020603050405020304" pitchFamily="18" charset="0"/>
              </a:rPr>
              <a:t>o</a:t>
            </a:r>
            <a:r>
              <a:rPr lang="en-US" sz="2400" dirty="0">
                <a:solidFill>
                  <a:srgbClr val="943735"/>
                </a:solidFill>
                <a:latin typeface="Times New Roman" panose="02020603050405020304" pitchFamily="18" charset="0"/>
                <a:cs typeface="Times New Roman" panose="02020603050405020304" pitchFamily="18" charset="0"/>
              </a:rPr>
              <a:t>f AIML</a:t>
            </a:r>
            <a:endParaRPr lang="en-IN" sz="24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290750" y="204311"/>
            <a:ext cx="1163002" cy="424338"/>
          </a:xfrm>
          <a:prstGeom prst="rect">
            <a:avLst/>
          </a:prstGeom>
        </p:spPr>
      </p:pic>
      <p:sp>
        <p:nvSpPr>
          <p:cNvPr id="4" name="object 4"/>
          <p:cNvSpPr txBox="1"/>
          <p:nvPr/>
        </p:nvSpPr>
        <p:spPr>
          <a:xfrm>
            <a:off x="1219200" y="1447800"/>
            <a:ext cx="4151980" cy="4364015"/>
          </a:xfrm>
          <a:prstGeom prst="rect">
            <a:avLst/>
          </a:prstGeom>
        </p:spPr>
        <p:txBody>
          <a:bodyPr vert="horz" wrap="square" lIns="0" tIns="16510" rIns="0" bIns="0" rtlCol="0">
            <a:spAutoFit/>
          </a:bodyPr>
          <a:lstStyle/>
          <a:p>
            <a:pPr marL="389890" indent="-377190" algn="just">
              <a:lnSpc>
                <a:spcPct val="100000"/>
              </a:lnSpc>
              <a:spcBef>
                <a:spcPts val="130"/>
              </a:spcBef>
              <a:buFont typeface="Cambria"/>
              <a:buAutoNum type="arabicPeriod"/>
              <a:tabLst>
                <a:tab pos="389890" algn="l"/>
              </a:tabLst>
            </a:pPr>
            <a:r>
              <a:rPr lang="en-IN" sz="2000" spc="-10" dirty="0">
                <a:latin typeface="Times New Roman" panose="02020603050405020304" pitchFamily="18" charset="0"/>
                <a:cs typeface="Times New Roman" panose="02020603050405020304" pitchFamily="18" charset="0"/>
              </a:rPr>
              <a:t>Abstract</a:t>
            </a:r>
            <a:endParaRPr lang="en-IN" sz="2000" dirty="0">
              <a:latin typeface="Times New Roman" panose="02020603050405020304" pitchFamily="18" charset="0"/>
              <a:cs typeface="Times New Roman" panose="02020603050405020304" pitchFamily="18" charset="0"/>
            </a:endParaRPr>
          </a:p>
          <a:p>
            <a:pPr marL="389890" indent="-377190" algn="just">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Introduction</a:t>
            </a:r>
          </a:p>
          <a:p>
            <a:pPr marL="389890" indent="-377190" algn="just">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Description</a:t>
            </a:r>
          </a:p>
          <a:p>
            <a:pPr marL="389890" indent="-377190" algn="just">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Preprocessing</a:t>
            </a:r>
          </a:p>
          <a:p>
            <a:pPr marL="389890" indent="-377190" algn="just">
              <a:spcBef>
                <a:spcPts val="2060"/>
              </a:spcBef>
              <a:buFontTx/>
              <a:buAutoNum type="arabicPeriod"/>
              <a:tabLst>
                <a:tab pos="389890" algn="l"/>
              </a:tabLst>
            </a:pPr>
            <a:r>
              <a:rPr lang="en-IN" sz="2000" spc="50" dirty="0">
                <a:latin typeface="Times New Roman" panose="02020603050405020304" pitchFamily="18" charset="0"/>
                <a:cs typeface="Times New Roman" panose="02020603050405020304" pitchFamily="18" charset="0"/>
              </a:rPr>
              <a:t>Methodology</a:t>
            </a:r>
          </a:p>
          <a:p>
            <a:pPr marL="389890" indent="-377190" algn="just">
              <a:spcBef>
                <a:spcPts val="2060"/>
              </a:spcBef>
              <a:buFontTx/>
              <a:buAutoNum type="arabicPeriod"/>
              <a:tabLst>
                <a:tab pos="389890" algn="l"/>
              </a:tabLst>
            </a:pPr>
            <a:r>
              <a:rPr lang="en-IN" sz="2000" dirty="0">
                <a:latin typeface="Times New Roman" panose="02020603050405020304" pitchFamily="18" charset="0"/>
                <a:cs typeface="Times New Roman" panose="02020603050405020304" pitchFamily="18" charset="0"/>
              </a:rPr>
              <a:t>Clustering</a:t>
            </a:r>
          </a:p>
          <a:p>
            <a:pPr marL="389890" indent="-377190" algn="just">
              <a:spcBef>
                <a:spcPts val="2060"/>
              </a:spcBef>
              <a:buFontTx/>
              <a:buAutoNum type="arabicPeriod"/>
              <a:tabLst>
                <a:tab pos="389890" algn="l"/>
              </a:tabLst>
            </a:pPr>
            <a:r>
              <a:rPr lang="en-IN" sz="2000" dirty="0">
                <a:latin typeface="Times New Roman" panose="02020603050405020304" pitchFamily="18" charset="0"/>
                <a:cs typeface="Times New Roman" panose="02020603050405020304" pitchFamily="18" charset="0"/>
              </a:rPr>
              <a:t>Classification</a:t>
            </a:r>
          </a:p>
          <a:p>
            <a:pPr marL="389890" indent="-377190" algn="just">
              <a:spcBef>
                <a:spcPts val="2060"/>
              </a:spcBef>
              <a:buFontTx/>
              <a:buAutoNum type="arabicPeriod"/>
              <a:tabLst>
                <a:tab pos="389890" algn="l"/>
              </a:tabLst>
            </a:pPr>
            <a:r>
              <a:rPr lang="en-IN" sz="20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4" cstate="print"/>
            <a:stretch>
              <a:fillRect/>
            </a:stretch>
          </p:blipFill>
          <p:spPr>
            <a:xfrm>
              <a:off x="2648188" y="47148"/>
              <a:ext cx="5103904" cy="1198311"/>
            </a:xfrm>
            <a:prstGeom prst="rect">
              <a:avLst/>
            </a:prstGeom>
          </p:spPr>
        </p:pic>
        <p:pic>
          <p:nvPicPr>
            <p:cNvPr id="7" name="object 5"/>
            <p:cNvPicPr/>
            <p:nvPr/>
          </p:nvPicPr>
          <p:blipFill>
            <a:blip r:embed="rId5" cstate="print"/>
            <a:stretch>
              <a:fillRect/>
            </a:stretch>
          </p:blipFill>
          <p:spPr>
            <a:xfrm>
              <a:off x="2703195" y="86439"/>
              <a:ext cx="4997767" cy="1092279"/>
            </a:xfrm>
            <a:prstGeom prst="rect">
              <a:avLst/>
            </a:prstGeom>
          </p:spPr>
        </p:pic>
        <p:pic>
          <p:nvPicPr>
            <p:cNvPr id="8" name="object 6"/>
            <p:cNvPicPr/>
            <p:nvPr/>
          </p:nvPicPr>
          <p:blipFill>
            <a:blip r:embed="rId6"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818402" y="1035684"/>
            <a:ext cx="8801100" cy="6767494"/>
          </a:xfrm>
          <a:prstGeom prst="rect">
            <a:avLst/>
          </a:prstGeom>
          <a:noFill/>
        </p:spPr>
        <p:txBody>
          <a:bodyPr wrap="square" rtlCol="0">
            <a:spAutoFit/>
          </a:bodyPr>
          <a:lstStyle/>
          <a:p>
            <a:pPr algn="just"/>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Road accidents are a major global concern, causing significant loss of life and property every year. The continuous rise in accident rates highlights the urgent need for intelligent systems that can analyze data and provide effective preventive solutions. Understanding the causes and patterns behind accidents is essential for improving road safety and reducing risks.</a:t>
            </a:r>
          </a:p>
          <a:p>
            <a:pPr algn="just">
              <a:lnSpc>
                <a:spcPct val="150000"/>
              </a:lnSpc>
            </a:pPr>
            <a:r>
              <a:rPr lang="en-US" sz="2000" dirty="0">
                <a:latin typeface="Times New Roman" panose="02020603050405020304" pitchFamily="18" charset="0"/>
                <a:cs typeface="Times New Roman" panose="02020603050405020304" pitchFamily="18" charset="0"/>
              </a:rPr>
              <a:t>This project focuses on analyzing road accident data using data mining techniques to identify important patterns, risk factors, and high-risk conditions. By examining accident-related data, the system aims to uncover hidden relationships that contribute to accident occurrence and severity, enabling better decision-making.</a:t>
            </a:r>
          </a:p>
          <a:p>
            <a:pPr algn="just">
              <a:lnSpc>
                <a:spcPct val="150000"/>
              </a:lnSpc>
            </a:pPr>
            <a:r>
              <a:rPr lang="en-US" sz="2000" dirty="0">
                <a:latin typeface="Times New Roman" panose="02020603050405020304" pitchFamily="18" charset="0"/>
                <a:cs typeface="Times New Roman" panose="02020603050405020304" pitchFamily="18" charset="0"/>
              </a:rPr>
              <a:t>The dataset used in this project includes key attributes such as </a:t>
            </a:r>
            <a:r>
              <a:rPr lang="en-US" sz="2000" dirty="0" err="1">
                <a:latin typeface="Times New Roman" panose="02020603050405020304" pitchFamily="18" charset="0"/>
                <a:cs typeface="Times New Roman" panose="02020603050405020304" pitchFamily="18" charset="0"/>
              </a:rPr>
              <a:t>Vehicle_Type</a:t>
            </a:r>
            <a:r>
              <a:rPr lang="en-US" sz="2000" dirty="0">
                <a:latin typeface="Times New Roman" panose="02020603050405020304" pitchFamily="18" charset="0"/>
                <a:cs typeface="Times New Roman" panose="02020603050405020304" pitchFamily="18" charset="0"/>
              </a:rPr>
              <a:t>, Time, Gender, </a:t>
            </a:r>
            <a:r>
              <a:rPr lang="en-US" sz="2000" dirty="0" err="1">
                <a:latin typeface="Times New Roman" panose="02020603050405020304" pitchFamily="18" charset="0"/>
                <a:cs typeface="Times New Roman" panose="02020603050405020304" pitchFamily="18" charset="0"/>
              </a:rPr>
              <a:t>Age_Group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Road_Type</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Accident_Severity</a:t>
            </a:r>
            <a:r>
              <a:rPr lang="en-US" sz="2000" dirty="0">
                <a:latin typeface="Times New Roman" panose="02020603050405020304" pitchFamily="18" charset="0"/>
                <a:cs typeface="Times New Roman" panose="02020603050405020304" pitchFamily="18" charset="0"/>
              </a:rPr>
              <a:t>, which is considered the target variable. These attributes play a crucial role in understanding how different factors influence accidents and their outcomes.</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1C49-8824-9CD1-A9FB-4164A2A30CB5}"/>
              </a:ext>
            </a:extLst>
          </p:cNvPr>
          <p:cNvSpPr>
            <a:spLocks noGrp="1"/>
          </p:cNvSpPr>
          <p:nvPr>
            <p:ph type="title"/>
          </p:nvPr>
        </p:nvSpPr>
        <p:spPr/>
        <p:txBody>
          <a:bodyPr/>
          <a:lstStyle/>
          <a:p>
            <a:endParaRPr lang="en-IN" dirty="0"/>
          </a:p>
        </p:txBody>
      </p:sp>
      <p:grpSp>
        <p:nvGrpSpPr>
          <p:cNvPr id="4" name="object 3">
            <a:extLst>
              <a:ext uri="{FF2B5EF4-FFF2-40B4-BE49-F238E27FC236}">
                <a16:creationId xmlns:a16="http://schemas.microsoft.com/office/drawing/2014/main" id="{62A04FF2-8A16-5C67-4A10-E590A41B20BB}"/>
              </a:ext>
            </a:extLst>
          </p:cNvPr>
          <p:cNvGrpSpPr/>
          <p:nvPr/>
        </p:nvGrpSpPr>
        <p:grpSpPr>
          <a:xfrm>
            <a:off x="2543303" y="569101"/>
            <a:ext cx="5103904" cy="1198311"/>
            <a:chOff x="2648188" y="47148"/>
            <a:chExt cx="5103904" cy="1198311"/>
          </a:xfrm>
        </p:grpSpPr>
        <p:pic>
          <p:nvPicPr>
            <p:cNvPr id="5" name="object 4">
              <a:extLst>
                <a:ext uri="{FF2B5EF4-FFF2-40B4-BE49-F238E27FC236}">
                  <a16:creationId xmlns:a16="http://schemas.microsoft.com/office/drawing/2014/main" id="{519455CF-F7F1-B792-0F72-74FB1658C8D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A96FD01-FE56-A244-D089-B53242350DAC}"/>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7085CF7-43DC-18EA-E9D6-C06D3F105416}"/>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6B6AA9F-D45B-54B3-7E51-4AE4CCCE3F5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Data Description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
        <p:nvSpPr>
          <p:cNvPr id="10" name="TextBox 9">
            <a:extLst>
              <a:ext uri="{FF2B5EF4-FFF2-40B4-BE49-F238E27FC236}">
                <a16:creationId xmlns:a16="http://schemas.microsoft.com/office/drawing/2014/main" id="{EC04DCBE-BBD1-D203-CBB1-9007EE3C4AF7}"/>
              </a:ext>
            </a:extLst>
          </p:cNvPr>
          <p:cNvSpPr txBox="1"/>
          <p:nvPr/>
        </p:nvSpPr>
        <p:spPr>
          <a:xfrm>
            <a:off x="2514600" y="3675556"/>
            <a:ext cx="5029200" cy="369332"/>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Data Preprocessing</a:t>
            </a:r>
          </a:p>
        </p:txBody>
      </p:sp>
      <p:sp>
        <p:nvSpPr>
          <p:cNvPr id="11" name="Text Placeholder 10">
            <a:extLst>
              <a:ext uri="{FF2B5EF4-FFF2-40B4-BE49-F238E27FC236}">
                <a16:creationId xmlns:a16="http://schemas.microsoft.com/office/drawing/2014/main" id="{399AF1E6-CD78-6968-14CE-4F70CB689C94}"/>
              </a:ext>
            </a:extLst>
          </p:cNvPr>
          <p:cNvSpPr>
            <a:spLocks noGrp="1"/>
          </p:cNvSpPr>
          <p:nvPr>
            <p:ph type="body" idx="1"/>
          </p:nvPr>
        </p:nvSpPr>
        <p:spPr>
          <a:xfrm>
            <a:off x="426384" y="1221404"/>
            <a:ext cx="9646884" cy="6829049"/>
          </a:xfrm>
        </p:spPr>
        <p:txBody>
          <a:bodyPr/>
          <a:lstStyle/>
          <a:p>
            <a:pPr algn="just">
              <a:lnSpc>
                <a:spcPct val="150000"/>
              </a:lnSpc>
            </a:pPr>
            <a:r>
              <a:rPr lang="en-US" sz="2000" b="0" dirty="0">
                <a:latin typeface="Times New Roman" panose="02020603050405020304" pitchFamily="18" charset="0"/>
                <a:cs typeface="Times New Roman" panose="02020603050405020304" pitchFamily="18" charset="0"/>
              </a:rPr>
              <a:t>The dataset used in this project contains detailed information about road accidents, including vehicle characteristics, driver demographics, time of occurrence, and road conditions. This data helps in identifying patterns, understanding causes, and predicting accident severity.</a:t>
            </a:r>
          </a:p>
          <a:p>
            <a:pPr algn="just">
              <a:lnSpc>
                <a:spcPct val="150000"/>
              </a:lnSpc>
            </a:pPr>
            <a:r>
              <a:rPr lang="en-US" sz="2000" dirty="0">
                <a:latin typeface="Times New Roman" panose="02020603050405020304" pitchFamily="18" charset="0"/>
                <a:cs typeface="Times New Roman" panose="02020603050405020304" pitchFamily="18" charset="0"/>
              </a:rPr>
              <a:t>Dataset Details</a:t>
            </a:r>
          </a:p>
          <a:p>
            <a:pPr algn="just">
              <a:lnSpc>
                <a:spcPct val="150000"/>
              </a:lnSpc>
            </a:pPr>
            <a:r>
              <a:rPr lang="en-US" sz="2000" dirty="0">
                <a:latin typeface="Times New Roman" panose="02020603050405020304" pitchFamily="18" charset="0"/>
                <a:cs typeface="Times New Roman" panose="02020603050405020304" pitchFamily="18" charset="0"/>
              </a:rPr>
              <a:t>Format: </a:t>
            </a:r>
            <a:r>
              <a:rPr lang="en-US" sz="2000" b="0" dirty="0">
                <a:latin typeface="Times New Roman" panose="02020603050405020304" pitchFamily="18" charset="0"/>
                <a:cs typeface="Times New Roman" panose="02020603050405020304" pitchFamily="18" charset="0"/>
              </a:rPr>
              <a:t>.</a:t>
            </a:r>
            <a:r>
              <a:rPr lang="en-US" sz="2000" b="0" dirty="0" err="1">
                <a:latin typeface="Times New Roman" panose="02020603050405020304" pitchFamily="18" charset="0"/>
                <a:cs typeface="Times New Roman" panose="02020603050405020304" pitchFamily="18" charset="0"/>
              </a:rPr>
              <a:t>arff</a:t>
            </a:r>
            <a:r>
              <a:rPr lang="en-US" sz="2000" b="0" dirty="0">
                <a:latin typeface="Times New Roman" panose="02020603050405020304" pitchFamily="18" charset="0"/>
                <a:cs typeface="Times New Roman" panose="02020603050405020304" pitchFamily="18" charset="0"/>
              </a:rPr>
              <a:t> (optimized for WEKA) </a:t>
            </a:r>
          </a:p>
          <a:p>
            <a:pPr algn="just">
              <a:lnSpc>
                <a:spcPct val="150000"/>
              </a:lnSpc>
            </a:pPr>
            <a:r>
              <a:rPr lang="en-US" sz="2000" dirty="0">
                <a:latin typeface="Times New Roman" panose="02020603050405020304" pitchFamily="18" charset="0"/>
                <a:cs typeface="Times New Roman" panose="02020603050405020304" pitchFamily="18" charset="0"/>
              </a:rPr>
              <a:t>Total Instances: </a:t>
            </a:r>
            <a:r>
              <a:rPr lang="en-US" sz="2000" b="0" dirty="0">
                <a:latin typeface="Times New Roman" panose="02020603050405020304" pitchFamily="18" charset="0"/>
                <a:cs typeface="Times New Roman" panose="02020603050405020304" pitchFamily="18" charset="0"/>
              </a:rPr>
              <a:t>5000+ records </a:t>
            </a:r>
          </a:p>
          <a:p>
            <a:pPr algn="just">
              <a:lnSpc>
                <a:spcPct val="150000"/>
              </a:lnSpc>
            </a:pPr>
            <a:r>
              <a:rPr lang="en-US" sz="2000" dirty="0">
                <a:latin typeface="Times New Roman" panose="02020603050405020304" pitchFamily="18" charset="0"/>
                <a:cs typeface="Times New Roman" panose="02020603050405020304" pitchFamily="18" charset="0"/>
              </a:rPr>
              <a:t>Type: </a:t>
            </a:r>
            <a:r>
              <a:rPr lang="en-US" sz="2000" b="0" dirty="0">
                <a:latin typeface="Times New Roman" panose="02020603050405020304" pitchFamily="18" charset="0"/>
                <a:cs typeface="Times New Roman" panose="02020603050405020304" pitchFamily="18" charset="0"/>
              </a:rPr>
              <a:t>Structured Accident Dataset </a:t>
            </a:r>
          </a:p>
          <a:p>
            <a:pPr algn="just">
              <a:lnSpc>
                <a:spcPct val="150000"/>
              </a:lnSpc>
            </a:pPr>
            <a:r>
              <a:rPr lang="en-US" sz="2000" b="0" dirty="0">
                <a:latin typeface="Times New Roman" panose="02020603050405020304" pitchFamily="18" charset="0"/>
                <a:cs typeface="Times New Roman" panose="02020603050405020304" pitchFamily="18" charset="0"/>
              </a:rPr>
              <a:t>Attributes: 6 Primary Features </a:t>
            </a:r>
          </a:p>
          <a:p>
            <a:pPr algn="just">
              <a:lnSpc>
                <a:spcPct val="150000"/>
              </a:lnSpc>
            </a:pPr>
            <a:r>
              <a:rPr lang="en-US" sz="2000" b="0" dirty="0">
                <a:latin typeface="Times New Roman" panose="02020603050405020304" pitchFamily="18" charset="0"/>
                <a:cs typeface="Times New Roman" panose="02020603050405020304" pitchFamily="18" charset="0"/>
              </a:rPr>
              <a:t>Nature: Real-world accident data collected from transport authorities and open datasets </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Attributes Used:</a:t>
            </a:r>
          </a:p>
          <a:p>
            <a:pPr algn="just">
              <a:lnSpc>
                <a:spcPct val="150000"/>
              </a:lnSpc>
            </a:pPr>
            <a:r>
              <a:rPr lang="en-US" sz="2000" dirty="0" err="1">
                <a:latin typeface="Times New Roman" panose="02020603050405020304" pitchFamily="18" charset="0"/>
                <a:cs typeface="Times New Roman" panose="02020603050405020304" pitchFamily="18" charset="0"/>
              </a:rPr>
              <a:t>Vehicle_Type</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Indicates the type of vehicle involved in the accident such as Car, Bike, Bus, or Truck. Helps analyze which vehicles are more prone to accidents. </a:t>
            </a:r>
          </a:p>
          <a:p>
            <a:pPr algn="just">
              <a:lnSpc>
                <a:spcPct val="150000"/>
              </a:lnSpc>
            </a:pPr>
            <a:r>
              <a:rPr lang="en-US" sz="2000" dirty="0">
                <a:latin typeface="Times New Roman" panose="02020603050405020304" pitchFamily="18" charset="0"/>
                <a:cs typeface="Times New Roman" panose="02020603050405020304" pitchFamily="18" charset="0"/>
              </a:rPr>
              <a:t>Time </a:t>
            </a:r>
            <a:r>
              <a:rPr lang="en-US" sz="2000" b="0" dirty="0">
                <a:latin typeface="Times New Roman" panose="02020603050405020304" pitchFamily="18" charset="0"/>
                <a:cs typeface="Times New Roman" panose="02020603050405020304" pitchFamily="18" charset="0"/>
              </a:rPr>
              <a:t>– Represents the time of the accident. It can be categorized into Morning, Afternoon, Evening, and Night. Useful for identifying peak accident hours. </a:t>
            </a:r>
          </a:p>
          <a:p>
            <a:pPr algn="just">
              <a:lnSpc>
                <a:spcPct val="150000"/>
              </a:lnSpc>
            </a:pPr>
            <a:endParaRPr lang="en-IN" sz="1800" b="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DC951F1-A51A-E176-217E-ED8E61F4E6E1}"/>
              </a:ext>
            </a:extLst>
          </p:cNvPr>
          <p:cNvSpPr txBox="1"/>
          <p:nvPr/>
        </p:nvSpPr>
        <p:spPr>
          <a:xfrm>
            <a:off x="1981200" y="2895600"/>
            <a:ext cx="5029200" cy="369332"/>
          </a:xfrm>
          <a:prstGeom prst="rect">
            <a:avLst/>
          </a:prstGeom>
          <a:noFill/>
        </p:spPr>
        <p:txBody>
          <a:bodyPr wrap="square">
            <a:spAutoFit/>
          </a:bodyPr>
          <a:lstStyle/>
          <a:p>
            <a:pPr>
              <a:buNone/>
            </a:pPr>
            <a:r>
              <a:rPr lang="en-US" dirty="0"/>
              <a:t>.</a:t>
            </a:r>
          </a:p>
        </p:txBody>
      </p:sp>
    </p:spTree>
    <p:extLst>
      <p:ext uri="{BB962C8B-B14F-4D97-AF65-F5344CB8AC3E}">
        <p14:creationId xmlns:p14="http://schemas.microsoft.com/office/powerpoint/2010/main" val="826670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5A52-8C27-4851-B598-F2842636282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45D562EA-1D0B-D325-0EC4-38FCDFE0B909}"/>
              </a:ext>
            </a:extLst>
          </p:cNvPr>
          <p:cNvSpPr>
            <a:spLocks noGrp="1"/>
          </p:cNvSpPr>
          <p:nvPr>
            <p:ph type="body" idx="1"/>
          </p:nvPr>
        </p:nvSpPr>
        <p:spPr>
          <a:xfrm>
            <a:off x="620727" y="1395256"/>
            <a:ext cx="8949055" cy="4301177"/>
          </a:xfrm>
        </p:spPr>
        <p:txBody>
          <a:bodyPr/>
          <a:lstStyle/>
          <a:p>
            <a:pPr algn="just">
              <a:lnSpc>
                <a:spcPct val="150000"/>
              </a:lnSpc>
            </a:pPr>
            <a:r>
              <a:rPr lang="en-US" sz="2000" dirty="0" err="1">
                <a:latin typeface="Times New Roman" panose="02020603050405020304" pitchFamily="18" charset="0"/>
                <a:cs typeface="Times New Roman" panose="02020603050405020304" pitchFamily="18" charset="0"/>
              </a:rPr>
              <a:t>Age_Group</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Categorizes drivers into age ranges like 18–25, 26–40, 41–60, and 60+. Helps identify high-risk age groups.</a:t>
            </a:r>
          </a:p>
          <a:p>
            <a:pPr algn="just">
              <a:lnSpc>
                <a:spcPct val="150000"/>
              </a:lnSpc>
            </a:pPr>
            <a:r>
              <a:rPr lang="en-US" sz="2000" dirty="0" err="1">
                <a:latin typeface="Times New Roman" panose="02020603050405020304" pitchFamily="18" charset="0"/>
                <a:cs typeface="Times New Roman" panose="02020603050405020304" pitchFamily="18" charset="0"/>
              </a:rPr>
              <a:t>Road_Type</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Describes the type of road such as Highway, City Road, or Rural Road. Important for detecting accident-prone locations. </a:t>
            </a:r>
          </a:p>
          <a:p>
            <a:pPr algn="just">
              <a:lnSpc>
                <a:spcPct val="150000"/>
              </a:lnSpc>
            </a:pPr>
            <a:r>
              <a:rPr lang="en-US" sz="2000" dirty="0" err="1">
                <a:latin typeface="Times New Roman" panose="02020603050405020304" pitchFamily="18" charset="0"/>
                <a:cs typeface="Times New Roman" panose="02020603050405020304" pitchFamily="18" charset="0"/>
              </a:rPr>
              <a:t>Accident_Severity</a:t>
            </a:r>
            <a:r>
              <a:rPr lang="en-US" sz="2000" dirty="0">
                <a:latin typeface="Times New Roman" panose="02020603050405020304" pitchFamily="18" charset="0"/>
                <a:cs typeface="Times New Roman" panose="02020603050405020304" pitchFamily="18" charset="0"/>
              </a:rPr>
              <a:t> (Target Variable) </a:t>
            </a:r>
            <a:r>
              <a:rPr lang="en-US" sz="2000" b="0" dirty="0">
                <a:latin typeface="Times New Roman" panose="02020603050405020304" pitchFamily="18" charset="0"/>
                <a:cs typeface="Times New Roman" panose="02020603050405020304" pitchFamily="18" charset="0"/>
              </a:rPr>
              <a:t>– Indicates the seriousness of the accident, classified as Minor, Serious, or Fatal. This is the main variable used for prediction</a:t>
            </a:r>
          </a:p>
          <a:p>
            <a:pPr algn="just">
              <a:lnSpc>
                <a:spcPct val="150000"/>
              </a:lnSpc>
            </a:pPr>
            <a:r>
              <a:rPr lang="en-US" sz="2000" dirty="0">
                <a:latin typeface="Times New Roman" panose="02020603050405020304" pitchFamily="18" charset="0"/>
                <a:cs typeface="Times New Roman" panose="02020603050405020304" pitchFamily="18" charset="0"/>
              </a:rPr>
              <a:t>Gender </a:t>
            </a:r>
            <a:r>
              <a:rPr lang="en-US" sz="2000" b="0" dirty="0">
                <a:latin typeface="Times New Roman" panose="02020603050405020304" pitchFamily="18" charset="0"/>
                <a:cs typeface="Times New Roman" panose="02020603050405020304" pitchFamily="18" charset="0"/>
              </a:rPr>
              <a:t>– Specifies whether the driver involved is Male or Female. Helps in demographic analysis of accidents. </a:t>
            </a:r>
          </a:p>
          <a:p>
            <a:pPr algn="just"/>
            <a:endParaRPr lang="en-US" sz="2000" b="0" dirty="0">
              <a:latin typeface="Times New Roman" panose="02020603050405020304" pitchFamily="18" charset="0"/>
              <a:cs typeface="Times New Roman" panose="02020603050405020304" pitchFamily="18" charset="0"/>
            </a:endParaRPr>
          </a:p>
          <a:p>
            <a:endParaRPr lang="en-IN" dirty="0"/>
          </a:p>
        </p:txBody>
      </p:sp>
      <p:grpSp>
        <p:nvGrpSpPr>
          <p:cNvPr id="4" name="object 3">
            <a:extLst>
              <a:ext uri="{FF2B5EF4-FFF2-40B4-BE49-F238E27FC236}">
                <a16:creationId xmlns:a16="http://schemas.microsoft.com/office/drawing/2014/main" id="{0061D0D4-4E18-F716-A0E6-510CEFD1D0EF}"/>
              </a:ext>
            </a:extLst>
          </p:cNvPr>
          <p:cNvGrpSpPr/>
          <p:nvPr/>
        </p:nvGrpSpPr>
        <p:grpSpPr>
          <a:xfrm>
            <a:off x="2819400" y="609600"/>
            <a:ext cx="5103904" cy="1198311"/>
            <a:chOff x="2648188" y="47148"/>
            <a:chExt cx="5103904" cy="1198311"/>
          </a:xfrm>
        </p:grpSpPr>
        <p:pic>
          <p:nvPicPr>
            <p:cNvPr id="5" name="object 4">
              <a:extLst>
                <a:ext uri="{FF2B5EF4-FFF2-40B4-BE49-F238E27FC236}">
                  <a16:creationId xmlns:a16="http://schemas.microsoft.com/office/drawing/2014/main" id="{66094BCB-BBF0-FF3C-8246-3BF8E9A36F5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EA8998C-5C06-9089-5E44-B052D9E1E66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38472D3-FD5E-EF17-A5CC-4242E201453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05C1B40-B2A5-3495-F71B-12762C23D4EF}"/>
                </a:ext>
              </a:extLst>
            </p:cNvPr>
            <p:cNvSpPr/>
            <p:nvPr/>
          </p:nvSpPr>
          <p:spPr>
            <a:xfrm>
              <a:off x="2969498"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Data Description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Tree>
    <p:extLst>
      <p:ext uri="{BB962C8B-B14F-4D97-AF65-F5344CB8AC3E}">
        <p14:creationId xmlns:p14="http://schemas.microsoft.com/office/powerpoint/2010/main" val="417261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344896"/>
            <a:ext cx="5103904" cy="1636304"/>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754422"/>
            <a:ext cx="5029200" cy="430887"/>
          </a:xfrm>
          <a:prstGeom prst="rect">
            <a:avLst/>
          </a:prstGeom>
          <a:noFill/>
        </p:spPr>
        <p:txBody>
          <a:bodyPr wrap="square">
            <a:spAutoFit/>
          </a:bodyPr>
          <a:lstStyle/>
          <a:p>
            <a:r>
              <a:rPr lang="en-US" sz="2200" b="1" dirty="0">
                <a:solidFill>
                  <a:schemeClr val="bg1"/>
                </a:solidFill>
              </a:rPr>
              <a:t>Problem Statement</a:t>
            </a:r>
            <a:endParaRPr lang="en-IN" sz="220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3DC6A868-5999-92BA-E5EF-133144AB1C8D}"/>
              </a:ext>
            </a:extLst>
          </p:cNvPr>
          <p:cNvSpPr>
            <a:spLocks noChangeArrowheads="1"/>
          </p:cNvSpPr>
          <p:nvPr/>
        </p:nvSpPr>
        <p:spPr bwMode="auto">
          <a:xfrm>
            <a:off x="457200" y="3634073"/>
            <a:ext cx="8991600" cy="87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rtl="0" eaLnBrk="0" fontAlgn="base" hangingPunct="0">
              <a:lnSpc>
                <a:spcPct val="150000"/>
              </a:lnSpc>
              <a:spcBef>
                <a:spcPct val="0"/>
              </a:spcBef>
              <a:spcAft>
                <a:spcPct val="0"/>
              </a:spcAft>
            </a:pPr>
            <a:br>
              <a:rPr lang="en-US" dirty="0"/>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9AA759F-CB47-0D54-A21D-6CEDAE65FB9C}"/>
              </a:ext>
            </a:extLst>
          </p:cNvPr>
          <p:cNvSpPr txBox="1"/>
          <p:nvPr/>
        </p:nvSpPr>
        <p:spPr>
          <a:xfrm>
            <a:off x="457201" y="2058280"/>
            <a:ext cx="9220200" cy="5074723"/>
          </a:xfrm>
          <a:prstGeom prst="rect">
            <a:avLst/>
          </a:prstGeom>
          <a:noFill/>
        </p:spPr>
        <p:txBody>
          <a:bodyPr wrap="square">
            <a:spAutoFit/>
          </a:bodyPr>
          <a:lstStyle/>
          <a:p>
            <a:pPr>
              <a:lnSpc>
                <a:spcPct val="150000"/>
              </a:lnSpc>
            </a:pPr>
            <a:r>
              <a:rPr lang="en-US" sz="2000" b="1" dirty="0" err="1">
                <a:latin typeface="Times New Roman" panose="02020603050405020304" pitchFamily="18" charset="0"/>
                <a:cs typeface="Times New Roman" panose="02020603050405020304" pitchFamily="18" charset="0"/>
              </a:rPr>
              <a:t>MainProblem</a:t>
            </a:r>
            <a:r>
              <a:rPr lang="en-US" sz="2000" b="1"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Road accidents are increasing rapidly, but existing systems mainly store accident data without using it for prediction and prevention. There is no intelligent system to analyze patterns and identify high-risk conditions in advance.</a:t>
            </a:r>
          </a:p>
          <a:p>
            <a:pPr algn="just">
              <a:lnSpc>
                <a:spcPct val="150000"/>
              </a:lnSpc>
            </a:pPr>
            <a:r>
              <a:rPr lang="en-US" sz="2000" b="1" dirty="0">
                <a:latin typeface="Times New Roman" panose="02020603050405020304" pitchFamily="18" charset="0"/>
                <a:cs typeface="Times New Roman" panose="02020603050405020304" pitchFamily="18" charset="0"/>
              </a:rPr>
              <a:t>Sub-Problems: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Lack of predictive models to forecast accident severity and risk levels. </a:t>
            </a:r>
          </a:p>
          <a:p>
            <a:pPr algn="just">
              <a:lnSpc>
                <a:spcPct val="150000"/>
              </a:lnSpc>
            </a:pPr>
            <a:r>
              <a:rPr lang="en-US" sz="2000" dirty="0">
                <a:latin typeface="Times New Roman" panose="02020603050405020304" pitchFamily="18" charset="0"/>
                <a:cs typeface="Times New Roman" panose="02020603050405020304" pitchFamily="18" charset="0"/>
              </a:rPr>
              <a:t>Accident data is available but not effectively analyzed to extract meaningful insights. </a:t>
            </a:r>
          </a:p>
          <a:p>
            <a:pPr algn="just">
              <a:lnSpc>
                <a:spcPct val="150000"/>
              </a:lnSpc>
            </a:pPr>
            <a:r>
              <a:rPr lang="en-US" sz="2000" dirty="0">
                <a:latin typeface="Times New Roman" panose="02020603050405020304" pitchFamily="18" charset="0"/>
                <a:cs typeface="Times New Roman" panose="02020603050405020304" pitchFamily="18" charset="0"/>
              </a:rPr>
              <a:t>No early warning mechanism to alert authorities about accident-prone zones. </a:t>
            </a:r>
          </a:p>
          <a:p>
            <a:pPr algn="just">
              <a:lnSpc>
                <a:spcPct val="150000"/>
              </a:lnSpc>
            </a:pPr>
            <a:r>
              <a:rPr lang="en-US" sz="2000" dirty="0">
                <a:latin typeface="Times New Roman" panose="02020603050405020304" pitchFamily="18" charset="0"/>
                <a:cs typeface="Times New Roman" panose="02020603050405020304" pitchFamily="18" charset="0"/>
              </a:rPr>
              <a:t>Difficulty in analyzing multiple factors like vehicle type, time, road type, age group, and gender together.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B0A686C3-D8C4-6247-5D18-DB9B451B7060}"/>
              </a:ext>
            </a:extLst>
          </p:cNvPr>
          <p:cNvGrpSpPr/>
          <p:nvPr/>
        </p:nvGrpSpPr>
        <p:grpSpPr>
          <a:xfrm>
            <a:off x="2634964" y="79842"/>
            <a:ext cx="5103904" cy="1198311"/>
            <a:chOff x="2648188" y="47148"/>
            <a:chExt cx="5103904" cy="1198311"/>
          </a:xfrm>
        </p:grpSpPr>
        <p:pic>
          <p:nvPicPr>
            <p:cNvPr id="3" name="object 4">
              <a:extLst>
                <a:ext uri="{FF2B5EF4-FFF2-40B4-BE49-F238E27FC236}">
                  <a16:creationId xmlns:a16="http://schemas.microsoft.com/office/drawing/2014/main" id="{AAB6571D-EE3C-3F09-50F2-DBDE98655C4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0190BE47-D723-6C71-DA74-D8341220BCBB}"/>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128FD2A-3D69-69A4-62B9-C3CFA6A6594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E317AF7-DE5A-8213-5647-B64A997D2D2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TextBox 11">
            <a:extLst>
              <a:ext uri="{FF2B5EF4-FFF2-40B4-BE49-F238E27FC236}">
                <a16:creationId xmlns:a16="http://schemas.microsoft.com/office/drawing/2014/main" id="{526B6CD6-3C49-CC32-4C53-E233DC27C601}"/>
              </a:ext>
            </a:extLst>
          </p:cNvPr>
          <p:cNvSpPr txBox="1"/>
          <p:nvPr/>
        </p:nvSpPr>
        <p:spPr>
          <a:xfrm>
            <a:off x="3997455" y="315586"/>
            <a:ext cx="22860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Preprocessing</a:t>
            </a:r>
          </a:p>
        </p:txBody>
      </p:sp>
      <p:pic>
        <p:nvPicPr>
          <p:cNvPr id="13" name="object 3">
            <a:extLst>
              <a:ext uri="{FF2B5EF4-FFF2-40B4-BE49-F238E27FC236}">
                <a16:creationId xmlns:a16="http://schemas.microsoft.com/office/drawing/2014/main" id="{F5E2EE77-59CB-1AE9-9CEE-89BB39A62B06}"/>
              </a:ext>
            </a:extLst>
          </p:cNvPr>
          <p:cNvPicPr/>
          <p:nvPr/>
        </p:nvPicPr>
        <p:blipFill>
          <a:blip r:embed="rId5" cstate="print"/>
          <a:stretch>
            <a:fillRect/>
          </a:stretch>
        </p:blipFill>
        <p:spPr>
          <a:xfrm>
            <a:off x="290750" y="204311"/>
            <a:ext cx="1163002" cy="424338"/>
          </a:xfrm>
          <a:prstGeom prst="rect">
            <a:avLst/>
          </a:prstGeom>
        </p:spPr>
      </p:pic>
      <p:sp>
        <p:nvSpPr>
          <p:cNvPr id="14" name="TextBox 13">
            <a:extLst>
              <a:ext uri="{FF2B5EF4-FFF2-40B4-BE49-F238E27FC236}">
                <a16:creationId xmlns:a16="http://schemas.microsoft.com/office/drawing/2014/main" id="{F73F6589-BFA1-7921-DC13-DD166C4A3C14}"/>
              </a:ext>
            </a:extLst>
          </p:cNvPr>
          <p:cNvSpPr txBox="1"/>
          <p:nvPr/>
        </p:nvSpPr>
        <p:spPr>
          <a:xfrm>
            <a:off x="7868756" y="320752"/>
            <a:ext cx="5029200" cy="669414"/>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ANALYSIS</a:t>
            </a:r>
          </a:p>
          <a:p>
            <a:r>
              <a:rPr lang="en-IN" dirty="0">
                <a:solidFill>
                  <a:schemeClr val="bg1"/>
                </a:solidFill>
                <a:latin typeface="Times New Roman" panose="02020603050405020304" pitchFamily="18" charset="0"/>
                <a:cs typeface="Times New Roman" panose="02020603050405020304" pitchFamily="18" charset="0"/>
              </a:rPr>
              <a:t>Data Preprocessing</a:t>
            </a:r>
            <a:endParaRPr lang="en-IN" sz="1800" b="1"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E570743-79C5-948D-25D5-A833C4CB0F69}"/>
              </a:ext>
            </a:extLst>
          </p:cNvPr>
          <p:cNvSpPr txBox="1"/>
          <p:nvPr/>
        </p:nvSpPr>
        <p:spPr>
          <a:xfrm>
            <a:off x="457200" y="743574"/>
            <a:ext cx="8915401" cy="6038641"/>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Data Cleaning</a:t>
            </a:r>
          </a:p>
          <a:p>
            <a:pPr algn="just">
              <a:lnSpc>
                <a:spcPct val="150000"/>
              </a:lnSpc>
            </a:pPr>
            <a:r>
              <a:rPr lang="en-US" sz="2000" dirty="0">
                <a:latin typeface="Times New Roman" panose="02020603050405020304" pitchFamily="18" charset="0"/>
                <a:cs typeface="Times New Roman" panose="02020603050405020304" pitchFamily="18" charset="0"/>
              </a:rPr>
              <a:t>Data cleaning handles missing, inconsistent, or noisy data. Missing values in attributes like </a:t>
            </a:r>
            <a:r>
              <a:rPr lang="en-US" sz="2000" dirty="0" err="1">
                <a:latin typeface="Times New Roman" panose="02020603050405020304" pitchFamily="18" charset="0"/>
                <a:cs typeface="Times New Roman" panose="02020603050405020304" pitchFamily="18" charset="0"/>
              </a:rPr>
              <a:t>Vehicle_Type</a:t>
            </a:r>
            <a:r>
              <a:rPr lang="en-US" sz="2000" dirty="0">
                <a:latin typeface="Times New Roman" panose="02020603050405020304" pitchFamily="18" charset="0"/>
                <a:cs typeface="Times New Roman" panose="02020603050405020304" pitchFamily="18" charset="0"/>
              </a:rPr>
              <a:t>, Time, and </a:t>
            </a:r>
            <a:r>
              <a:rPr lang="en-US" sz="2000" dirty="0" err="1">
                <a:latin typeface="Times New Roman" panose="02020603050405020304" pitchFamily="18" charset="0"/>
                <a:cs typeface="Times New Roman" panose="02020603050405020304" pitchFamily="18" charset="0"/>
              </a:rPr>
              <a:t>Road_Type</a:t>
            </a:r>
            <a:r>
              <a:rPr lang="en-US" sz="2000" dirty="0">
                <a:latin typeface="Times New Roman" panose="02020603050405020304" pitchFamily="18" charset="0"/>
                <a:cs typeface="Times New Roman" panose="02020603050405020304" pitchFamily="18" charset="0"/>
              </a:rPr>
              <a:t> are managed using techniques such as mode replacement or removing incomplete records, ensuring accurate and reliable data.</a:t>
            </a:r>
          </a:p>
          <a:p>
            <a:pPr algn="just">
              <a:lnSpc>
                <a:spcPct val="150000"/>
              </a:lnSpc>
            </a:pPr>
            <a:r>
              <a:rPr lang="en-US" sz="2000" b="1" dirty="0">
                <a:latin typeface="Times New Roman" panose="02020603050405020304" pitchFamily="18" charset="0"/>
                <a:cs typeface="Times New Roman" panose="02020603050405020304" pitchFamily="18" charset="0"/>
              </a:rPr>
              <a:t>Data Integration</a:t>
            </a:r>
          </a:p>
          <a:p>
            <a:pPr algn="just">
              <a:lnSpc>
                <a:spcPct val="150000"/>
              </a:lnSpc>
            </a:pPr>
            <a:r>
              <a:rPr lang="en-US" sz="2000" dirty="0">
                <a:latin typeface="Times New Roman" panose="02020603050405020304" pitchFamily="18" charset="0"/>
                <a:cs typeface="Times New Roman" panose="02020603050405020304" pitchFamily="18" charset="0"/>
              </a:rPr>
              <a:t>Data integration combines accident data from multiple sources like government records, traffic police reports, and online datasets into one structured dataset for comprehensive analysis of factors like </a:t>
            </a:r>
            <a:r>
              <a:rPr lang="en-US" sz="2000" dirty="0" err="1">
                <a:latin typeface="Times New Roman" panose="02020603050405020304" pitchFamily="18" charset="0"/>
                <a:cs typeface="Times New Roman" panose="02020603050405020304" pitchFamily="18" charset="0"/>
              </a:rPr>
              <a:t>Age_Group</a:t>
            </a:r>
            <a:r>
              <a:rPr lang="en-US" sz="2000" dirty="0">
                <a:latin typeface="Times New Roman" panose="02020603050405020304" pitchFamily="18" charset="0"/>
                <a:cs typeface="Times New Roman" panose="02020603050405020304" pitchFamily="18" charset="0"/>
              </a:rPr>
              <a:t>, Gender, and </a:t>
            </a:r>
            <a:r>
              <a:rPr lang="en-US" sz="2000" dirty="0" err="1">
                <a:latin typeface="Times New Roman" panose="02020603050405020304" pitchFamily="18" charset="0"/>
                <a:cs typeface="Times New Roman" panose="02020603050405020304" pitchFamily="18" charset="0"/>
              </a:rPr>
              <a:t>Accident_Severity</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b="1" dirty="0">
                <a:latin typeface="Times New Roman" panose="02020603050405020304" pitchFamily="18" charset="0"/>
                <a:cs typeface="Times New Roman" panose="02020603050405020304" pitchFamily="18" charset="0"/>
              </a:rPr>
              <a:t>Data Reduction</a:t>
            </a:r>
          </a:p>
          <a:p>
            <a:pPr algn="just">
              <a:lnSpc>
                <a:spcPct val="150000"/>
              </a:lnSpc>
            </a:pPr>
            <a:r>
              <a:rPr lang="en-US" sz="2000" dirty="0">
                <a:latin typeface="Times New Roman" panose="02020603050405020304" pitchFamily="18" charset="0"/>
                <a:cs typeface="Times New Roman" panose="02020603050405020304" pitchFamily="18" charset="0"/>
              </a:rPr>
              <a:t>Data reduction minimizes dataset size while retaining important information. Irrelevant attributes are removed, and key features like </a:t>
            </a:r>
            <a:r>
              <a:rPr lang="en-US" sz="2000" dirty="0" err="1">
                <a:latin typeface="Times New Roman" panose="02020603050405020304" pitchFamily="18" charset="0"/>
                <a:cs typeface="Times New Roman" panose="02020603050405020304" pitchFamily="18" charset="0"/>
              </a:rPr>
              <a:t>Vehicle_Type</a:t>
            </a:r>
            <a:r>
              <a:rPr lang="en-US" sz="2000" dirty="0">
                <a:latin typeface="Times New Roman" panose="02020603050405020304" pitchFamily="18" charset="0"/>
                <a:cs typeface="Times New Roman" panose="02020603050405020304" pitchFamily="18" charset="0"/>
              </a:rPr>
              <a:t>, Time, </a:t>
            </a:r>
            <a:r>
              <a:rPr lang="en-US" sz="2000" dirty="0" err="1">
                <a:latin typeface="Times New Roman" panose="02020603050405020304" pitchFamily="18" charset="0"/>
                <a:cs typeface="Times New Roman" panose="02020603050405020304" pitchFamily="18" charset="0"/>
              </a:rPr>
              <a:t>Road_Type</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Accident_Severity</a:t>
            </a:r>
            <a:r>
              <a:rPr lang="en-US" sz="2000" dirty="0">
                <a:latin typeface="Times New Roman" panose="02020603050405020304" pitchFamily="18" charset="0"/>
                <a:cs typeface="Times New Roman" panose="02020603050405020304" pitchFamily="18" charset="0"/>
              </a:rPr>
              <a:t> are selected to improve performance.</a:t>
            </a:r>
          </a:p>
        </p:txBody>
      </p:sp>
    </p:spTree>
    <p:extLst>
      <p:ext uri="{BB962C8B-B14F-4D97-AF65-F5344CB8AC3E}">
        <p14:creationId xmlns:p14="http://schemas.microsoft.com/office/powerpoint/2010/main" val="427383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308C-34C3-7B6C-C27F-D35EB9C3CED0}"/>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A6F934D4-F31C-A680-12D1-9D7BE4A6665B}"/>
              </a:ext>
            </a:extLst>
          </p:cNvPr>
          <p:cNvSpPr>
            <a:spLocks noGrp="1"/>
          </p:cNvSpPr>
          <p:nvPr>
            <p:ph type="body" idx="1"/>
          </p:nvPr>
        </p:nvSpPr>
        <p:spPr>
          <a:xfrm>
            <a:off x="621188" y="1409148"/>
            <a:ext cx="8949055" cy="6367384"/>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S</a:t>
            </a:r>
            <a:r>
              <a:rPr lang="en-US" sz="2000" b="0" dirty="0">
                <a:latin typeface="Times New Roman" panose="02020603050405020304" pitchFamily="18" charset="0"/>
                <a:cs typeface="Times New Roman" panose="02020603050405020304" pitchFamily="18" charset="0"/>
              </a:rPr>
              <a:t>electing and transforming key attributes to improve model accuracy and accident risk prediction.</a:t>
            </a:r>
            <a:br>
              <a:rPr lang="en-US" sz="2000" b="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Extracted Features:</a:t>
            </a:r>
          </a:p>
          <a:p>
            <a:pPr algn="just">
              <a:lnSpc>
                <a:spcPct val="150000"/>
              </a:lnSpc>
            </a:pPr>
            <a:r>
              <a:rPr lang="en-US" sz="2000" dirty="0" err="1">
                <a:latin typeface="Times New Roman" panose="02020603050405020304" pitchFamily="18" charset="0"/>
                <a:cs typeface="Times New Roman" panose="02020603050405020304" pitchFamily="18" charset="0"/>
              </a:rPr>
              <a:t>Vehicle_Type</a:t>
            </a:r>
            <a:r>
              <a:rPr lang="en-US" sz="2000" dirty="0">
                <a:latin typeface="Times New Roman" panose="02020603050405020304" pitchFamily="18" charset="0"/>
                <a:cs typeface="Times New Roman" panose="02020603050405020304" pitchFamily="18" charset="0"/>
              </a:rPr>
              <a:t> &amp; </a:t>
            </a:r>
            <a:r>
              <a:rPr lang="en-US" sz="2000" dirty="0" err="1">
                <a:latin typeface="Times New Roman" panose="02020603050405020304" pitchFamily="18" charset="0"/>
                <a:cs typeface="Times New Roman" panose="02020603050405020304" pitchFamily="18" charset="0"/>
              </a:rPr>
              <a:t>Road_Type</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Type of vehicle and road where the accident occurred </a:t>
            </a:r>
          </a:p>
          <a:p>
            <a:pPr algn="just">
              <a:lnSpc>
                <a:spcPct val="150000"/>
              </a:lnSpc>
            </a:pPr>
            <a:r>
              <a:rPr lang="en-US" sz="2000" dirty="0">
                <a:latin typeface="Times New Roman" panose="02020603050405020304" pitchFamily="18" charset="0"/>
                <a:cs typeface="Times New Roman" panose="02020603050405020304" pitchFamily="18" charset="0"/>
              </a:rPr>
              <a:t>Time (Peak Hours Analysis) </a:t>
            </a:r>
            <a:r>
              <a:rPr lang="en-US" sz="2000" b="0" dirty="0">
                <a:latin typeface="Times New Roman" panose="02020603050405020304" pitchFamily="18" charset="0"/>
                <a:cs typeface="Times New Roman" panose="02020603050405020304" pitchFamily="18" charset="0"/>
              </a:rPr>
              <a:t>– Accident occurrence during Morning, Afternoon, Evening, Night </a:t>
            </a:r>
          </a:p>
          <a:p>
            <a:pPr algn="just">
              <a:lnSpc>
                <a:spcPct val="150000"/>
              </a:lnSpc>
            </a:pPr>
            <a:r>
              <a:rPr lang="en-US" sz="2000" dirty="0" err="1">
                <a:latin typeface="Times New Roman" panose="02020603050405020304" pitchFamily="18" charset="0"/>
                <a:cs typeface="Times New Roman" panose="02020603050405020304" pitchFamily="18" charset="0"/>
              </a:rPr>
              <a:t>Age_Group</a:t>
            </a:r>
            <a:r>
              <a:rPr lang="en-US" sz="2000" dirty="0">
                <a:latin typeface="Times New Roman" panose="02020603050405020304" pitchFamily="18" charset="0"/>
                <a:cs typeface="Times New Roman" panose="02020603050405020304" pitchFamily="18" charset="0"/>
              </a:rPr>
              <a:t> &amp; Gender </a:t>
            </a:r>
            <a:r>
              <a:rPr lang="en-US" sz="2000" b="0" dirty="0">
                <a:latin typeface="Times New Roman" panose="02020603050405020304" pitchFamily="18" charset="0"/>
                <a:cs typeface="Times New Roman" panose="02020603050405020304" pitchFamily="18" charset="0"/>
              </a:rPr>
              <a:t>– Driver demographic details </a:t>
            </a:r>
          </a:p>
          <a:p>
            <a:pPr algn="just">
              <a:lnSpc>
                <a:spcPct val="150000"/>
              </a:lnSpc>
            </a:pPr>
            <a:r>
              <a:rPr lang="en-US" sz="2000" dirty="0">
                <a:latin typeface="Times New Roman" panose="02020603050405020304" pitchFamily="18" charset="0"/>
                <a:cs typeface="Times New Roman" panose="02020603050405020304" pitchFamily="18" charset="0"/>
              </a:rPr>
              <a:t>Accident Causes </a:t>
            </a:r>
            <a:r>
              <a:rPr lang="en-US" sz="2000" b="0" dirty="0">
                <a:latin typeface="Times New Roman" panose="02020603050405020304" pitchFamily="18" charset="0"/>
                <a:cs typeface="Times New Roman" panose="02020603050405020304" pitchFamily="18" charset="0"/>
              </a:rPr>
              <a:t>– </a:t>
            </a:r>
            <a:r>
              <a:rPr lang="en-US" sz="2000" b="0" dirty="0" err="1">
                <a:latin typeface="Times New Roman" panose="02020603050405020304" pitchFamily="18" charset="0"/>
                <a:cs typeface="Times New Roman" panose="02020603050405020304" pitchFamily="18" charset="0"/>
              </a:rPr>
              <a:t>Overspeeding</a:t>
            </a:r>
            <a:r>
              <a:rPr lang="en-US" sz="2000" b="0" dirty="0">
                <a:latin typeface="Times New Roman" panose="02020603050405020304" pitchFamily="18" charset="0"/>
                <a:cs typeface="Times New Roman" panose="02020603050405020304" pitchFamily="18" charset="0"/>
              </a:rPr>
              <a:t>, Drunk Driving, Weather Conditions </a:t>
            </a:r>
          </a:p>
          <a:p>
            <a:pPr algn="just">
              <a:lnSpc>
                <a:spcPct val="150000"/>
              </a:lnSpc>
            </a:pPr>
            <a:r>
              <a:rPr lang="en-US" sz="2000" b="0" dirty="0">
                <a:latin typeface="Times New Roman" panose="02020603050405020304" pitchFamily="18" charset="0"/>
                <a:cs typeface="Times New Roman" panose="02020603050405020304" pitchFamily="18" charset="0"/>
              </a:rPr>
              <a:t>Location (Accident Area) – Regions where accidents frequently occur </a:t>
            </a:r>
          </a:p>
          <a:p>
            <a:pPr algn="just">
              <a:lnSpc>
                <a:spcPct val="150000"/>
              </a:lnSpc>
            </a:pPr>
            <a:r>
              <a:rPr lang="en-US" sz="2000" dirty="0">
                <a:latin typeface="Times New Roman" panose="02020603050405020304" pitchFamily="18" charset="0"/>
                <a:cs typeface="Times New Roman" panose="02020603050405020304" pitchFamily="18" charset="0"/>
              </a:rPr>
              <a:t>Derived Features:</a:t>
            </a:r>
          </a:p>
          <a:p>
            <a:pPr algn="just">
              <a:lnSpc>
                <a:spcPct val="150000"/>
              </a:lnSpc>
            </a:pPr>
            <a:r>
              <a:rPr lang="en-US" sz="2000" dirty="0" err="1">
                <a:latin typeface="Times New Roman" panose="02020603050405020304" pitchFamily="18" charset="0"/>
                <a:cs typeface="Times New Roman" panose="02020603050405020304" pitchFamily="18" charset="0"/>
              </a:rPr>
              <a:t>Risk_Level</a:t>
            </a:r>
            <a:r>
              <a:rPr lang="en-US" sz="2000" dirty="0">
                <a:latin typeface="Times New Roman" panose="02020603050405020304" pitchFamily="18" charset="0"/>
                <a:cs typeface="Times New Roman" panose="02020603050405020304" pitchFamily="18" charset="0"/>
              </a:rPr>
              <a:t> (Based on Severity) </a:t>
            </a:r>
            <a:r>
              <a:rPr lang="en-US" sz="2000" b="0" dirty="0">
                <a:latin typeface="Times New Roman" panose="02020603050405020304" pitchFamily="18" charset="0"/>
                <a:cs typeface="Times New Roman" panose="02020603050405020304" pitchFamily="18" charset="0"/>
              </a:rPr>
              <a:t>– Minor, Serious, Fatal </a:t>
            </a:r>
            <a:r>
              <a:rPr lang="en-US" sz="2000" b="0" i="1" dirty="0">
                <a:latin typeface="Times New Roman" panose="02020603050405020304" pitchFamily="18" charset="0"/>
                <a:cs typeface="Times New Roman" panose="02020603050405020304" pitchFamily="18" charset="0"/>
              </a:rPr>
              <a:t>(Target Variable)</a:t>
            </a:r>
            <a:r>
              <a:rPr lang="en-US" sz="2000" b="0" dirty="0">
                <a:latin typeface="Times New Roman" panose="02020603050405020304" pitchFamily="18" charset="0"/>
                <a:cs typeface="Times New Roman" panose="02020603050405020304" pitchFamily="18" charset="0"/>
              </a:rPr>
              <a:t> </a:t>
            </a:r>
          </a:p>
          <a:p>
            <a:pPr algn="just">
              <a:lnSpc>
                <a:spcPct val="150000"/>
              </a:lnSpc>
            </a:pPr>
            <a:r>
              <a:rPr lang="en-US" sz="2000" dirty="0" err="1">
                <a:latin typeface="Times New Roman" panose="02020603050405020304" pitchFamily="18" charset="0"/>
                <a:cs typeface="Times New Roman" panose="02020603050405020304" pitchFamily="18" charset="0"/>
              </a:rPr>
              <a:t>Peak_Hour_Indicator</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Identifies high accident time periods </a:t>
            </a:r>
          </a:p>
          <a:p>
            <a:pPr algn="just">
              <a:lnSpc>
                <a:spcPct val="150000"/>
              </a:lnSpc>
            </a:pPr>
            <a:r>
              <a:rPr lang="en-US" sz="2000" dirty="0" err="1">
                <a:latin typeface="Times New Roman" panose="02020603050405020304" pitchFamily="18" charset="0"/>
                <a:cs typeface="Times New Roman" panose="02020603050405020304" pitchFamily="18" charset="0"/>
              </a:rPr>
              <a:t>High_Risk_Zone</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Areas with frequent accidents </a:t>
            </a:r>
          </a:p>
          <a:p>
            <a:pPr algn="just">
              <a:lnSpc>
                <a:spcPct val="150000"/>
              </a:lnSpc>
            </a:pPr>
            <a:endParaRPr lang="en-IN" sz="1800" b="0" dirty="0">
              <a:latin typeface="Times New Roman" panose="02020603050405020304" pitchFamily="18" charset="0"/>
              <a:cs typeface="Times New Roman" panose="02020603050405020304" pitchFamily="18" charset="0"/>
            </a:endParaRPr>
          </a:p>
        </p:txBody>
      </p:sp>
      <p:grpSp>
        <p:nvGrpSpPr>
          <p:cNvPr id="4" name="object 3">
            <a:extLst>
              <a:ext uri="{FF2B5EF4-FFF2-40B4-BE49-F238E27FC236}">
                <a16:creationId xmlns:a16="http://schemas.microsoft.com/office/drawing/2014/main" id="{DCB373ED-B412-5729-5DA4-D220058B8FEF}"/>
              </a:ext>
            </a:extLst>
          </p:cNvPr>
          <p:cNvGrpSpPr/>
          <p:nvPr/>
        </p:nvGrpSpPr>
        <p:grpSpPr>
          <a:xfrm>
            <a:off x="2819400" y="609600"/>
            <a:ext cx="5103904" cy="1198311"/>
            <a:chOff x="2648188" y="47148"/>
            <a:chExt cx="5103904" cy="1198311"/>
          </a:xfrm>
        </p:grpSpPr>
        <p:pic>
          <p:nvPicPr>
            <p:cNvPr id="5" name="object 4">
              <a:extLst>
                <a:ext uri="{FF2B5EF4-FFF2-40B4-BE49-F238E27FC236}">
                  <a16:creationId xmlns:a16="http://schemas.microsoft.com/office/drawing/2014/main" id="{C089C78B-BF3D-157E-1714-DF3FFEDBED2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483B2C60-9F7C-E513-3988-49B3D0A403A8}"/>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81ADF35B-35A4-4A05-DC24-FBD146FD327E}"/>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894EC65-01B3-A7DD-6C99-4FFA3A132B6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Feature Extraction</a:t>
              </a:r>
            </a:p>
            <a:p>
              <a:pPr algn="ctr"/>
              <a:endParaRPr sz="2200" dirty="0"/>
            </a:p>
          </p:txBody>
        </p:sp>
      </p:grpSp>
    </p:spTree>
    <p:extLst>
      <p:ext uri="{BB962C8B-B14F-4D97-AF65-F5344CB8AC3E}">
        <p14:creationId xmlns:p14="http://schemas.microsoft.com/office/powerpoint/2010/main" val="1507352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73076F-4177-9F43-B604-48A4D48A77C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3" name="object 3">
            <a:extLst>
              <a:ext uri="{FF2B5EF4-FFF2-40B4-BE49-F238E27FC236}">
                <a16:creationId xmlns:a16="http://schemas.microsoft.com/office/drawing/2014/main" id="{BC608530-1BC9-2F56-7695-00D1305DBE4B}"/>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615A3BFD-DFEF-74AF-22A6-BCC0B6FB192B}"/>
              </a:ext>
            </a:extLst>
          </p:cNvPr>
          <p:cNvGrpSpPr/>
          <p:nvPr/>
        </p:nvGrpSpPr>
        <p:grpSpPr>
          <a:xfrm>
            <a:off x="2667000" y="29493"/>
            <a:ext cx="5103904" cy="1198311"/>
            <a:chOff x="2648188" y="47148"/>
            <a:chExt cx="5103904" cy="1198311"/>
          </a:xfrm>
        </p:grpSpPr>
        <p:pic>
          <p:nvPicPr>
            <p:cNvPr id="5" name="object 4">
              <a:extLst>
                <a:ext uri="{FF2B5EF4-FFF2-40B4-BE49-F238E27FC236}">
                  <a16:creationId xmlns:a16="http://schemas.microsoft.com/office/drawing/2014/main" id="{83D66381-FA6C-9576-C3BB-E422CD305839}"/>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0A0DC69-A78F-4323-C18B-DF831B83B636}"/>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E35C9B4-EA1C-F542-15F0-079EFAFE5B0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A2F0657-F4EA-714B-2BC9-C4888F91409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TextBox 8">
            <a:extLst>
              <a:ext uri="{FF2B5EF4-FFF2-40B4-BE49-F238E27FC236}">
                <a16:creationId xmlns:a16="http://schemas.microsoft.com/office/drawing/2014/main" id="{684DECD3-17DF-D19A-8F46-B4FA9D3FE8A2}"/>
              </a:ext>
            </a:extLst>
          </p:cNvPr>
          <p:cNvSpPr txBox="1"/>
          <p:nvPr/>
        </p:nvSpPr>
        <p:spPr>
          <a:xfrm>
            <a:off x="4178534" y="279294"/>
            <a:ext cx="1923674"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Methodologies</a:t>
            </a:r>
          </a:p>
        </p:txBody>
      </p:sp>
      <p:sp>
        <p:nvSpPr>
          <p:cNvPr id="24" name="TextBox 23">
            <a:extLst>
              <a:ext uri="{FF2B5EF4-FFF2-40B4-BE49-F238E27FC236}">
                <a16:creationId xmlns:a16="http://schemas.microsoft.com/office/drawing/2014/main" id="{56E93ACA-02A5-5759-61F6-677EDD5E9E6C}"/>
              </a:ext>
            </a:extLst>
          </p:cNvPr>
          <p:cNvSpPr txBox="1"/>
          <p:nvPr/>
        </p:nvSpPr>
        <p:spPr>
          <a:xfrm>
            <a:off x="555102" y="1111013"/>
            <a:ext cx="9067799" cy="627505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project uses a Knowledge Discovery in Databases (KDD) approach to analyze and predict road accident severity and risk factors.</a:t>
            </a:r>
          </a:p>
          <a:p>
            <a:pPr algn="just">
              <a:lnSpc>
                <a:spcPct val="150000"/>
              </a:lnSpc>
            </a:pPr>
            <a:r>
              <a:rPr lang="en-US" sz="2400" b="1" dirty="0">
                <a:latin typeface="Times New Roman" panose="02020603050405020304" pitchFamily="18" charset="0"/>
                <a:cs typeface="Times New Roman" panose="02020603050405020304" pitchFamily="18" charset="0"/>
              </a:rPr>
              <a:t>Data Integration</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Sources:</a:t>
            </a:r>
            <a:r>
              <a:rPr lang="en-US" sz="2000" dirty="0">
                <a:latin typeface="Times New Roman" panose="02020603050405020304" pitchFamily="18" charset="0"/>
                <a:cs typeface="Times New Roman" panose="02020603050405020304" pitchFamily="18" charset="0"/>
              </a:rPr>
              <a:t> Combined accident records, traffic police reports, and government datasets.</a:t>
            </a:r>
          </a:p>
          <a:p>
            <a:pPr algn="just">
              <a:lnSpc>
                <a:spcPct val="150000"/>
              </a:lnSpc>
            </a:pPr>
            <a:r>
              <a:rPr lang="en-US" sz="2000" b="1" dirty="0">
                <a:latin typeface="Times New Roman" panose="02020603050405020304" pitchFamily="18" charset="0"/>
                <a:cs typeface="Times New Roman" panose="02020603050405020304" pitchFamily="18" charset="0"/>
              </a:rPr>
              <a:t>Key Features:</a:t>
            </a:r>
            <a:r>
              <a:rPr lang="en-US" sz="2000" dirty="0">
                <a:latin typeface="Times New Roman" panose="02020603050405020304" pitchFamily="18" charset="0"/>
                <a:cs typeface="Times New Roman" panose="02020603050405020304" pitchFamily="18" charset="0"/>
              </a:rPr>
              <a:t> Vehicle type, time, road type, age group, gender, and accident severity.</a:t>
            </a:r>
          </a:p>
          <a:p>
            <a:pPr algn="just">
              <a:lnSpc>
                <a:spcPct val="150000"/>
              </a:lnSpc>
            </a:pPr>
            <a:r>
              <a:rPr lang="en-US" sz="2400" b="1" dirty="0">
                <a:latin typeface="Times New Roman" panose="02020603050405020304" pitchFamily="18" charset="0"/>
                <a:cs typeface="Times New Roman" panose="02020603050405020304" pitchFamily="18" charset="0"/>
              </a:rPr>
              <a:t>Preprocessing</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Cleaning:</a:t>
            </a:r>
            <a:r>
              <a:rPr lang="en-US" sz="2000" dirty="0">
                <a:latin typeface="Times New Roman" panose="02020603050405020304" pitchFamily="18" charset="0"/>
                <a:cs typeface="Times New Roman" panose="02020603050405020304" pitchFamily="18" charset="0"/>
              </a:rPr>
              <a:t> Handled missing values and removed duplicate records.</a:t>
            </a:r>
          </a:p>
          <a:p>
            <a:pPr algn="just">
              <a:lnSpc>
                <a:spcPct val="150000"/>
              </a:lnSpc>
            </a:pPr>
            <a:r>
              <a:rPr lang="en-US" sz="2000" b="1" dirty="0">
                <a:latin typeface="Times New Roman" panose="02020603050405020304" pitchFamily="18" charset="0"/>
                <a:cs typeface="Times New Roman" panose="02020603050405020304" pitchFamily="18" charset="0"/>
              </a:rPr>
              <a:t>Refinement:</a:t>
            </a:r>
            <a:r>
              <a:rPr lang="en-US" sz="2000" dirty="0">
                <a:latin typeface="Times New Roman" panose="02020603050405020304" pitchFamily="18" charset="0"/>
                <a:cs typeface="Times New Roman" panose="02020603050405020304" pitchFamily="18" charset="0"/>
              </a:rPr>
              <a:t> Performed encoding and normalization for better analysis.</a:t>
            </a:r>
          </a:p>
          <a:p>
            <a:pPr algn="just">
              <a:lnSpc>
                <a:spcPct val="150000"/>
              </a:lnSpc>
            </a:pPr>
            <a:r>
              <a:rPr lang="en-US" sz="2400" b="1" dirty="0">
                <a:latin typeface="Times New Roman" panose="02020603050405020304" pitchFamily="18" charset="0"/>
                <a:cs typeface="Times New Roman" panose="02020603050405020304" pitchFamily="18" charset="0"/>
              </a:rPr>
              <a:t>Data Mining</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Classification (J48):</a:t>
            </a:r>
            <a:r>
              <a:rPr lang="en-US" sz="2000" dirty="0">
                <a:latin typeface="Times New Roman" panose="02020603050405020304" pitchFamily="18" charset="0"/>
                <a:cs typeface="Times New Roman" panose="02020603050405020304" pitchFamily="18" charset="0"/>
              </a:rPr>
              <a:t> Predicts accident severity </a:t>
            </a:r>
            <a:r>
              <a:rPr lang="en-US" sz="2000" i="1" dirty="0">
                <a:latin typeface="Times New Roman" panose="02020603050405020304" pitchFamily="18" charset="0"/>
                <a:cs typeface="Times New Roman" panose="02020603050405020304" pitchFamily="18" charset="0"/>
              </a:rPr>
              <a:t>(Minor, Serious, Fatal)</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b="1" dirty="0">
                <a:latin typeface="Times New Roman" panose="02020603050405020304" pitchFamily="18" charset="0"/>
                <a:cs typeface="Times New Roman" panose="02020603050405020304" pitchFamily="18" charset="0"/>
              </a:rPr>
              <a:t>Clustering (K-Means):</a:t>
            </a:r>
            <a:r>
              <a:rPr lang="en-US" sz="2000" dirty="0">
                <a:latin typeface="Times New Roman" panose="02020603050405020304" pitchFamily="18" charset="0"/>
                <a:cs typeface="Times New Roman" panose="02020603050405020304" pitchFamily="18" charset="0"/>
              </a:rPr>
              <a:t> Groups accident locations to identify high-risk zones.</a:t>
            </a:r>
          </a:p>
          <a:p>
            <a:pPr algn="just">
              <a:lnSpc>
                <a:spcPct val="150000"/>
              </a:lnSpc>
            </a:pPr>
            <a:r>
              <a:rPr lang="en-US" sz="2000" b="1" dirty="0">
                <a:latin typeface="Times New Roman" panose="02020603050405020304" pitchFamily="18" charset="0"/>
                <a:cs typeface="Times New Roman" panose="02020603050405020304" pitchFamily="18" charset="0"/>
              </a:rPr>
              <a:t>Association (</a:t>
            </a:r>
            <a:r>
              <a:rPr lang="en-US" sz="2000" b="1" dirty="0" err="1">
                <a:latin typeface="Times New Roman" panose="02020603050405020304" pitchFamily="18" charset="0"/>
                <a:cs typeface="Times New Roman" panose="02020603050405020304" pitchFamily="18" charset="0"/>
              </a:rPr>
              <a:t>Apriori</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Links factors like Time, Road Type with accident risk.</a:t>
            </a:r>
          </a:p>
          <a:p>
            <a:pPr algn="just">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336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407F-6273-0AA2-1C09-F9BDDEA7EEA3}"/>
              </a:ext>
            </a:extLst>
          </p:cNvPr>
          <p:cNvSpPr>
            <a:spLocks noGrp="1"/>
          </p:cNvSpPr>
          <p:nvPr>
            <p:ph type="title"/>
          </p:nvPr>
        </p:nvSpPr>
        <p:spPr>
          <a:xfrm>
            <a:off x="3831430" y="533400"/>
            <a:ext cx="2528570" cy="515085"/>
          </a:xfrm>
        </p:spPr>
        <p:txBody>
          <a:bodyPr/>
          <a:lstStyle/>
          <a:p>
            <a:r>
              <a:rPr lang="en-US" dirty="0"/>
              <a:t>CLUSTERING</a:t>
            </a:r>
            <a:endParaRPr lang="en-IN" dirty="0"/>
          </a:p>
        </p:txBody>
      </p:sp>
      <p:sp>
        <p:nvSpPr>
          <p:cNvPr id="3" name="Text Placeholder 2">
            <a:extLst>
              <a:ext uri="{FF2B5EF4-FFF2-40B4-BE49-F238E27FC236}">
                <a16:creationId xmlns:a16="http://schemas.microsoft.com/office/drawing/2014/main" id="{3A0A8D9F-1DB4-91A6-7753-DF26525D6F95}"/>
              </a:ext>
            </a:extLst>
          </p:cNvPr>
          <p:cNvSpPr>
            <a:spLocks noGrp="1"/>
          </p:cNvSpPr>
          <p:nvPr>
            <p:ph type="body" idx="1"/>
          </p:nvPr>
        </p:nvSpPr>
        <p:spPr>
          <a:xfrm>
            <a:off x="914400" y="1606901"/>
            <a:ext cx="8305800" cy="5946308"/>
          </a:xfrm>
        </p:spPr>
        <p:txBody>
          <a:bodyPr/>
          <a:lstStyle/>
          <a:p>
            <a:pPr>
              <a:lnSpc>
                <a:spcPct val="150000"/>
              </a:lnSpc>
            </a:pPr>
            <a:r>
              <a:rPr lang="en-US" sz="2000" b="0" dirty="0">
                <a:latin typeface="Times New Roman" panose="02020603050405020304" pitchFamily="18" charset="0"/>
                <a:cs typeface="Times New Roman" panose="02020603050405020304" pitchFamily="18" charset="0"/>
              </a:rPr>
              <a:t>Clustering is a data mining technique used to group similar data without predefined labels.</a:t>
            </a:r>
          </a:p>
          <a:p>
            <a:pPr>
              <a:lnSpc>
                <a:spcPct val="150000"/>
              </a:lnSpc>
            </a:pPr>
            <a:r>
              <a:rPr lang="en-US" sz="2000" dirty="0">
                <a:latin typeface="Times New Roman" panose="02020603050405020304" pitchFamily="18" charset="0"/>
                <a:cs typeface="Times New Roman" panose="02020603050405020304" pitchFamily="18" charset="0"/>
              </a:rPr>
              <a:t>Algorithms Used</a:t>
            </a:r>
          </a:p>
          <a:p>
            <a:pPr algn="just">
              <a:lnSpc>
                <a:spcPct val="150000"/>
              </a:lnSpc>
            </a:pPr>
            <a:r>
              <a:rPr lang="en-US" sz="2000" b="0" dirty="0" err="1">
                <a:latin typeface="Times New Roman" panose="02020603050405020304" pitchFamily="18" charset="0"/>
                <a:cs typeface="Times New Roman" panose="02020603050405020304" pitchFamily="18" charset="0"/>
              </a:rPr>
              <a:t>SimpleKMeans</a:t>
            </a:r>
            <a:r>
              <a:rPr lang="en-US" sz="2000" b="0" dirty="0">
                <a:latin typeface="Times New Roman" panose="02020603050405020304" pitchFamily="18" charset="0"/>
                <a:cs typeface="Times New Roman" panose="02020603050405020304" pitchFamily="18" charset="0"/>
              </a:rPr>
              <a:t> Clustering: An unsupervised Machine Learning algorithm used to group accident records into distinct clusters based on features like location, time, and road type.</a:t>
            </a:r>
          </a:p>
          <a:p>
            <a:pPr>
              <a:lnSpc>
                <a:spcPct val="150000"/>
              </a:lnSpc>
            </a:pPr>
            <a:r>
              <a:rPr lang="en-US" sz="2000" dirty="0">
                <a:latin typeface="Times New Roman" panose="02020603050405020304" pitchFamily="18" charset="0"/>
                <a:cs typeface="Times New Roman" panose="02020603050405020304" pitchFamily="18" charset="0"/>
              </a:rPr>
              <a:t>Purpose</a:t>
            </a:r>
          </a:p>
          <a:p>
            <a:pPr>
              <a:lnSpc>
                <a:spcPct val="150000"/>
              </a:lnSpc>
            </a:pPr>
            <a:r>
              <a:rPr lang="en-US" sz="2000" b="0" dirty="0">
                <a:latin typeface="Times New Roman" panose="02020603050405020304" pitchFamily="18" charset="0"/>
                <a:cs typeface="Times New Roman" panose="02020603050405020304" pitchFamily="18" charset="0"/>
              </a:rPr>
              <a:t>Identify hidden patterns in accident data.</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Group accident-prone areas with similar characteristics.</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Analyze trends in peak accident timings and road conditions.</a:t>
            </a:r>
          </a:p>
          <a:p>
            <a:pPr>
              <a:lnSpc>
                <a:spcPct val="150000"/>
              </a:lnSpc>
            </a:pPr>
            <a:r>
              <a:rPr lang="en-US" sz="2000" dirty="0">
                <a:latin typeface="Times New Roman" panose="02020603050405020304" pitchFamily="18" charset="0"/>
                <a:cs typeface="Times New Roman" panose="02020603050405020304" pitchFamily="18" charset="0"/>
              </a:rPr>
              <a:t>Example</a:t>
            </a:r>
          </a:p>
          <a:p>
            <a:pPr algn="just">
              <a:lnSpc>
                <a:spcPct val="150000"/>
              </a:lnSpc>
            </a:pPr>
            <a:r>
              <a:rPr lang="en-US" sz="2000" b="0" dirty="0">
                <a:latin typeface="Times New Roman" panose="02020603050405020304" pitchFamily="18" charset="0"/>
                <a:cs typeface="Times New Roman" panose="02020603050405020304" pitchFamily="18" charset="0"/>
              </a:rPr>
              <a:t>Accidents on highways at night with high severity form one cluster, while city daytime low-severity accidents form another cluster.</a:t>
            </a:r>
            <a:endParaRPr lang="en-IN" sz="2000" b="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A00A9C-66DE-6F8D-61C2-8254D7FBB1A9}"/>
              </a:ext>
            </a:extLst>
          </p:cNvPr>
          <p:cNvPicPr>
            <a:picLocks noChangeAspect="1"/>
          </p:cNvPicPr>
          <p:nvPr/>
        </p:nvPicPr>
        <p:blipFill>
          <a:blip r:embed="rId2"/>
          <a:stretch>
            <a:fillRect/>
          </a:stretch>
        </p:blipFill>
        <p:spPr>
          <a:xfrm>
            <a:off x="2277507" y="136126"/>
            <a:ext cx="5105400" cy="1470776"/>
          </a:xfrm>
          <a:prstGeom prst="rect">
            <a:avLst/>
          </a:prstGeom>
        </p:spPr>
      </p:pic>
      <p:sp>
        <p:nvSpPr>
          <p:cNvPr id="5" name="TextBox 4">
            <a:extLst>
              <a:ext uri="{FF2B5EF4-FFF2-40B4-BE49-F238E27FC236}">
                <a16:creationId xmlns:a16="http://schemas.microsoft.com/office/drawing/2014/main" id="{822423A7-ACAD-D49B-7C94-1477E9142C39}"/>
              </a:ext>
            </a:extLst>
          </p:cNvPr>
          <p:cNvSpPr txBox="1"/>
          <p:nvPr/>
        </p:nvSpPr>
        <p:spPr>
          <a:xfrm>
            <a:off x="4038600" y="486272"/>
            <a:ext cx="2895600"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Clustering</a:t>
            </a:r>
            <a:endParaRPr lang="en-IN"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054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D95B-758D-465E-74FF-5ECD57DB2F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92F86B7-A241-7D1C-4D7F-C1A70102858D}"/>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AB02C6BE-083D-653B-0B98-D55B2438D9EE}"/>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7BD7E0AC-901D-87F0-0BAB-5E5E42287DA7}"/>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Clustering</a:t>
            </a:r>
            <a:endParaRPr lang="en-IN" sz="2000" dirty="0">
              <a:effectLst/>
            </a:endParaRPr>
          </a:p>
        </p:txBody>
      </p:sp>
      <p:sp>
        <p:nvSpPr>
          <p:cNvPr id="2" name="TextBox 1">
            <a:extLst>
              <a:ext uri="{FF2B5EF4-FFF2-40B4-BE49-F238E27FC236}">
                <a16:creationId xmlns:a16="http://schemas.microsoft.com/office/drawing/2014/main" id="{EE57E39B-A700-D0CA-64C5-74B9D0F5803F}"/>
              </a:ext>
            </a:extLst>
          </p:cNvPr>
          <p:cNvSpPr txBox="1"/>
          <p:nvPr/>
        </p:nvSpPr>
        <p:spPr>
          <a:xfrm>
            <a:off x="914400" y="986532"/>
            <a:ext cx="8229600" cy="5539978"/>
          </a:xfrm>
          <a:prstGeom prst="rect">
            <a:avLst/>
          </a:prstGeom>
          <a:noFill/>
        </p:spPr>
        <p:txBody>
          <a:bodyPr wrap="square" rtlCol="0">
            <a:spAutoFit/>
          </a:bodyPr>
          <a:lstStyle/>
          <a:p>
            <a:pPr lvl="2" algn="just">
              <a:lnSpc>
                <a:spcPct val="150000"/>
              </a:lnSpc>
            </a:pPr>
            <a:r>
              <a:rPr lang="en-US" sz="2400" b="1" dirty="0">
                <a:latin typeface="Times New Roman" panose="02020603050405020304" pitchFamily="18" charset="0"/>
                <a:cs typeface="Times New Roman" panose="02020603050405020304" pitchFamily="18" charset="0"/>
              </a:rPr>
              <a:t>Benefits</a:t>
            </a:r>
            <a:endParaRPr lang="en-US" sz="2000" b="1" dirty="0">
              <a:latin typeface="Times New Roman" panose="02020603050405020304" pitchFamily="18" charset="0"/>
              <a:cs typeface="Times New Roman" panose="02020603050405020304" pitchFamily="18" charset="0"/>
            </a:endParaRPr>
          </a:p>
          <a:p>
            <a:pPr lvl="2" algn="just">
              <a:lnSpc>
                <a:spcPct val="150000"/>
              </a:lnSpc>
            </a:pPr>
            <a:r>
              <a:rPr lang="en-US" sz="2000" b="1" dirty="0">
                <a:latin typeface="Times New Roman" panose="02020603050405020304" pitchFamily="18" charset="0"/>
                <a:cs typeface="Times New Roman" panose="02020603050405020304" pitchFamily="18" charset="0"/>
              </a:rPr>
              <a:t>Early Detection:</a:t>
            </a:r>
            <a:r>
              <a:rPr lang="en-US" sz="2000" dirty="0">
                <a:latin typeface="Times New Roman" panose="02020603050405020304" pitchFamily="18" charset="0"/>
                <a:cs typeface="Times New Roman" panose="02020603050405020304" pitchFamily="18" charset="0"/>
              </a:rPr>
              <a:t> Identifies accident-prone areas and high-risk patterns before accidents become severe.</a:t>
            </a:r>
          </a:p>
          <a:p>
            <a:pPr lvl="2" algn="just">
              <a:lnSpc>
                <a:spcPct val="150000"/>
              </a:lnSpc>
            </a:pPr>
            <a:r>
              <a:rPr lang="en-US" sz="2000" b="1" dirty="0">
                <a:latin typeface="Times New Roman" panose="02020603050405020304" pitchFamily="18" charset="0"/>
                <a:cs typeface="Times New Roman" panose="02020603050405020304" pitchFamily="18" charset="0"/>
              </a:rPr>
              <a:t>Risk Awareness:</a:t>
            </a:r>
            <a:r>
              <a:rPr lang="en-US" sz="2000" dirty="0">
                <a:latin typeface="Times New Roman" panose="02020603050405020304" pitchFamily="18" charset="0"/>
                <a:cs typeface="Times New Roman" panose="02020603050405020304" pitchFamily="18" charset="0"/>
              </a:rPr>
              <a:t> Helps authorities understand dangerous conditions such as night driving, </a:t>
            </a:r>
            <a:r>
              <a:rPr lang="en-US" sz="2000" dirty="0" err="1">
                <a:latin typeface="Times New Roman" panose="02020603050405020304" pitchFamily="18" charset="0"/>
                <a:cs typeface="Times New Roman" panose="02020603050405020304" pitchFamily="18" charset="0"/>
              </a:rPr>
              <a:t>overspeeding</a:t>
            </a:r>
            <a:r>
              <a:rPr lang="en-US" sz="2000" dirty="0">
                <a:latin typeface="Times New Roman" panose="02020603050405020304" pitchFamily="18" charset="0"/>
                <a:cs typeface="Times New Roman" panose="02020603050405020304" pitchFamily="18" charset="0"/>
              </a:rPr>
              <a:t>, and highways.</a:t>
            </a:r>
          </a:p>
          <a:p>
            <a:pPr lvl="2" algn="just">
              <a:lnSpc>
                <a:spcPct val="150000"/>
              </a:lnSpc>
            </a:pPr>
            <a:r>
              <a:rPr lang="en-US" sz="2000" b="1" dirty="0">
                <a:latin typeface="Times New Roman" panose="02020603050405020304" pitchFamily="18" charset="0"/>
                <a:cs typeface="Times New Roman" panose="02020603050405020304" pitchFamily="18" charset="0"/>
              </a:rPr>
              <a:t>Targeted Intervention:</a:t>
            </a:r>
            <a:r>
              <a:rPr lang="en-US" sz="2000" dirty="0">
                <a:latin typeface="Times New Roman" panose="02020603050405020304" pitchFamily="18" charset="0"/>
                <a:cs typeface="Times New Roman" panose="02020603050405020304" pitchFamily="18" charset="0"/>
              </a:rPr>
              <a:t> Supports traffic police and government in implementing safety measures in high-risk zones.</a:t>
            </a:r>
          </a:p>
          <a:p>
            <a:pPr lvl="2" algn="just">
              <a:lnSpc>
                <a:spcPct val="150000"/>
              </a:lnSpc>
            </a:pPr>
            <a:r>
              <a:rPr lang="en-US" sz="2000" b="1" dirty="0">
                <a:latin typeface="Times New Roman" panose="02020603050405020304" pitchFamily="18" charset="0"/>
                <a:cs typeface="Times New Roman" panose="02020603050405020304" pitchFamily="18" charset="0"/>
              </a:rPr>
              <a:t>Accident Reduction:</a:t>
            </a:r>
            <a:r>
              <a:rPr lang="en-US" sz="2000" dirty="0">
                <a:latin typeface="Times New Roman" panose="02020603050405020304" pitchFamily="18" charset="0"/>
                <a:cs typeface="Times New Roman" panose="02020603050405020304" pitchFamily="18" charset="0"/>
              </a:rPr>
              <a:t> Helps reduce accident rates by focusing on critical locations and peak time periods.</a:t>
            </a:r>
          </a:p>
          <a:p>
            <a:pPr lvl="2" algn="just">
              <a:lnSpc>
                <a:spcPct val="150000"/>
              </a:lnSpc>
            </a:pPr>
            <a:r>
              <a:rPr lang="en-US" sz="2000" b="1" dirty="0">
                <a:latin typeface="Times New Roman" panose="02020603050405020304" pitchFamily="18" charset="0"/>
                <a:cs typeface="Times New Roman" panose="02020603050405020304" pitchFamily="18" charset="0"/>
              </a:rPr>
              <a:t>Resource Optimization:</a:t>
            </a:r>
            <a:r>
              <a:rPr lang="en-US" sz="2000" dirty="0">
                <a:latin typeface="Times New Roman" panose="02020603050405020304" pitchFamily="18" charset="0"/>
                <a:cs typeface="Times New Roman" panose="02020603050405020304" pitchFamily="18" charset="0"/>
              </a:rPr>
              <a:t> Helps allocate traffic control measures and resources efficiently to high-risk areas.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8238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9F748-1117-C168-964C-550AA43FE1AB}"/>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DA692544-9DAA-0EE0-5765-0D410B755497}"/>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0597CD15-880C-E6A7-BD83-8259FBBE7DF3}"/>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Classification</a:t>
            </a:r>
            <a:endParaRPr lang="en-IN" sz="2000" dirty="0">
              <a:effectLst/>
            </a:endParaRPr>
          </a:p>
        </p:txBody>
      </p:sp>
      <p:sp>
        <p:nvSpPr>
          <p:cNvPr id="19" name="TextBox 18">
            <a:extLst>
              <a:ext uri="{FF2B5EF4-FFF2-40B4-BE49-F238E27FC236}">
                <a16:creationId xmlns:a16="http://schemas.microsoft.com/office/drawing/2014/main" id="{D5B57076-DCE8-C960-F35D-4C359D62573F}"/>
              </a:ext>
            </a:extLst>
          </p:cNvPr>
          <p:cNvSpPr txBox="1"/>
          <p:nvPr/>
        </p:nvSpPr>
        <p:spPr>
          <a:xfrm>
            <a:off x="685800" y="1144851"/>
            <a:ext cx="8686800" cy="5669309"/>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Classification: J48 Algorithm (Decision Tree)</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J48 is a Decision Tree algorithm used for classification. It builds a tree structure by splitting data based on important attributes to predict the target </a:t>
            </a:r>
            <a:r>
              <a:rPr lang="en-US" sz="2000" dirty="0" err="1">
                <a:latin typeface="Times New Roman" panose="02020603050405020304" pitchFamily="18" charset="0"/>
                <a:cs typeface="Times New Roman" panose="02020603050405020304" pitchFamily="18" charset="0"/>
              </a:rPr>
              <a:t>variable.In</a:t>
            </a:r>
            <a:r>
              <a:rPr lang="en-US" sz="2000" dirty="0">
                <a:latin typeface="Times New Roman" panose="02020603050405020304" pitchFamily="18" charset="0"/>
                <a:cs typeface="Times New Roman" panose="02020603050405020304" pitchFamily="18" charset="0"/>
              </a:rPr>
              <a:t> this project, J48 is used to predict the Accident Severity Level based on input features such as </a:t>
            </a:r>
            <a:r>
              <a:rPr lang="en-US" sz="2000" dirty="0" err="1">
                <a:latin typeface="Times New Roman" panose="02020603050405020304" pitchFamily="18" charset="0"/>
                <a:cs typeface="Times New Roman" panose="02020603050405020304" pitchFamily="18" charset="0"/>
              </a:rPr>
              <a:t>Vehicle_Type</a:t>
            </a:r>
            <a:r>
              <a:rPr lang="en-US" sz="2000" dirty="0">
                <a:latin typeface="Times New Roman" panose="02020603050405020304" pitchFamily="18" charset="0"/>
                <a:cs typeface="Times New Roman" panose="02020603050405020304" pitchFamily="18" charset="0"/>
              </a:rPr>
              <a:t>, Time, </a:t>
            </a:r>
            <a:r>
              <a:rPr lang="en-US" sz="2000" dirty="0" err="1">
                <a:latin typeface="Times New Roman" panose="02020603050405020304" pitchFamily="18" charset="0"/>
                <a:cs typeface="Times New Roman" panose="02020603050405020304" pitchFamily="18" charset="0"/>
              </a:rPr>
              <a:t>Road_Type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Age_Group</a:t>
            </a:r>
            <a:r>
              <a:rPr lang="en-US" sz="2000" dirty="0">
                <a:latin typeface="Times New Roman" panose="02020603050405020304" pitchFamily="18" charset="0"/>
                <a:cs typeface="Times New Roman" panose="02020603050405020304" pitchFamily="18" charset="0"/>
              </a:rPr>
              <a:t>, and Gender.</a:t>
            </a:r>
          </a:p>
          <a:p>
            <a:pPr algn="just">
              <a:lnSpc>
                <a:spcPct val="150000"/>
              </a:lnSpc>
            </a:pPr>
            <a:r>
              <a:rPr lang="en-US" sz="2000" dirty="0">
                <a:latin typeface="Times New Roman" panose="02020603050405020304" pitchFamily="18" charset="0"/>
                <a:cs typeface="Times New Roman" panose="02020603050405020304" pitchFamily="18" charset="0"/>
              </a:rPr>
              <a:t>The model classifies accidents into:</a:t>
            </a:r>
          </a:p>
          <a:p>
            <a:pPr>
              <a:lnSpc>
                <a:spcPct val="150000"/>
              </a:lnSpc>
            </a:pPr>
            <a:r>
              <a:rPr lang="en-US" sz="2000" dirty="0">
                <a:latin typeface="Times New Roman" panose="02020603050405020304" pitchFamily="18" charset="0"/>
                <a:cs typeface="Times New Roman" panose="02020603050405020304" pitchFamily="18" charset="0"/>
              </a:rPr>
              <a:t>Minor</a:t>
            </a:r>
          </a:p>
          <a:p>
            <a:pPr>
              <a:lnSpc>
                <a:spcPct val="150000"/>
              </a:lnSpc>
            </a:pPr>
            <a:r>
              <a:rPr lang="en-US" sz="2000" dirty="0">
                <a:latin typeface="Times New Roman" panose="02020603050405020304" pitchFamily="18" charset="0"/>
                <a:cs typeface="Times New Roman" panose="02020603050405020304" pitchFamily="18" charset="0"/>
              </a:rPr>
              <a:t>Moderate</a:t>
            </a:r>
          </a:p>
          <a:p>
            <a:pPr>
              <a:lnSpc>
                <a:spcPct val="150000"/>
              </a:lnSpc>
            </a:pPr>
            <a:r>
              <a:rPr lang="en-US" sz="2000" dirty="0">
                <a:latin typeface="Times New Roman" panose="02020603050405020304" pitchFamily="18" charset="0"/>
                <a:cs typeface="Times New Roman" panose="02020603050405020304" pitchFamily="18" charset="0"/>
              </a:rPr>
              <a:t>Severe</a:t>
            </a:r>
          </a:p>
          <a:p>
            <a:pPr>
              <a:lnSpc>
                <a:spcPct val="150000"/>
              </a:lnSpc>
            </a:pPr>
            <a:r>
              <a:rPr lang="en-US" sz="2000" b="1" dirty="0">
                <a:latin typeface="Times New Roman" panose="02020603050405020304" pitchFamily="18" charset="0"/>
                <a:cs typeface="Times New Roman" panose="02020603050405020304" pitchFamily="18" charset="0"/>
              </a:rPr>
              <a:t>Example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If an accident has: Night Time + Highway + Heavy Vehicle → Classified as Severe</a:t>
            </a:r>
          </a:p>
          <a:p>
            <a:pPr algn="just">
              <a:lnSpc>
                <a:spcPct val="150000"/>
              </a:lnSpc>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308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0CD82-EDCD-9513-84F1-BBDCB9462F5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E73AF41-FC21-2FBD-4EC0-4146B1035529}"/>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219E9611-851E-068F-5549-D0E486F7E110}"/>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E0A510A0-BDB0-91E5-3E89-6D78587E0FBD}"/>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Classification</a:t>
            </a:r>
            <a:endParaRPr lang="en-IN" sz="2000" dirty="0">
              <a:effectLst/>
            </a:endParaRPr>
          </a:p>
        </p:txBody>
      </p:sp>
      <p:sp>
        <p:nvSpPr>
          <p:cNvPr id="19" name="TextBox 18">
            <a:extLst>
              <a:ext uri="{FF2B5EF4-FFF2-40B4-BE49-F238E27FC236}">
                <a16:creationId xmlns:a16="http://schemas.microsoft.com/office/drawing/2014/main" id="{0816BF2E-92AA-266C-29E0-8CAB0C91F043}"/>
              </a:ext>
            </a:extLst>
          </p:cNvPr>
          <p:cNvSpPr txBox="1"/>
          <p:nvPr/>
        </p:nvSpPr>
        <p:spPr>
          <a:xfrm>
            <a:off x="685800" y="1144851"/>
            <a:ext cx="8686800" cy="1354217"/>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J48 Algorithm (Decision Tree</a:t>
            </a:r>
            <a:r>
              <a:rPr lang="en-IN" sz="2000" b="1" dirty="0">
                <a:latin typeface="Times New Roman" panose="02020603050405020304" pitchFamily="18" charset="0"/>
                <a:cs typeface="Times New Roman" panose="02020603050405020304" pitchFamily="18" charset="0"/>
              </a:rPr>
              <a:t>)</a:t>
            </a:r>
          </a:p>
          <a:p>
            <a:pPr>
              <a:buNone/>
            </a:pPr>
            <a:endParaRPr lang="en-IN" sz="20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1212EC0-A0E0-D9AC-357D-750A24BB3EB4}"/>
              </a:ext>
            </a:extLst>
          </p:cNvPr>
          <p:cNvPicPr>
            <a:picLocks noChangeAspect="1"/>
          </p:cNvPicPr>
          <p:nvPr/>
        </p:nvPicPr>
        <p:blipFill>
          <a:blip r:embed="rId4"/>
          <a:stretch>
            <a:fillRect/>
          </a:stretch>
        </p:blipFill>
        <p:spPr>
          <a:xfrm>
            <a:off x="533400" y="1744926"/>
            <a:ext cx="8839200" cy="4789848"/>
          </a:xfrm>
          <a:prstGeom prst="rect">
            <a:avLst/>
          </a:prstGeom>
        </p:spPr>
      </p:pic>
    </p:spTree>
    <p:extLst>
      <p:ext uri="{BB962C8B-B14F-4D97-AF65-F5344CB8AC3E}">
        <p14:creationId xmlns:p14="http://schemas.microsoft.com/office/powerpoint/2010/main" val="1185129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7340-75CF-6DCB-03FB-F14A166215F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65281A6-DD71-3EEC-9B64-84CE038E3CDD}"/>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AC0C7B18-2962-D3D3-A9EA-B2549A6D6170}"/>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528FA1C0-C4B7-12E2-9194-8747ADD9DCFF}"/>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Conclusion</a:t>
            </a:r>
            <a:endParaRPr lang="en-IN" sz="2000" dirty="0">
              <a:effectLst/>
            </a:endParaRPr>
          </a:p>
        </p:txBody>
      </p:sp>
      <p:sp>
        <p:nvSpPr>
          <p:cNvPr id="19" name="TextBox 18">
            <a:extLst>
              <a:ext uri="{FF2B5EF4-FFF2-40B4-BE49-F238E27FC236}">
                <a16:creationId xmlns:a16="http://schemas.microsoft.com/office/drawing/2014/main" id="{8646F171-B2E2-630E-1107-087C8C8F32B8}"/>
              </a:ext>
            </a:extLst>
          </p:cNvPr>
          <p:cNvSpPr txBox="1"/>
          <p:nvPr/>
        </p:nvSpPr>
        <p:spPr>
          <a:xfrm>
            <a:off x="533400" y="1143000"/>
            <a:ext cx="8686800" cy="7377469"/>
          </a:xfrm>
          <a:prstGeom prst="rect">
            <a:avLst/>
          </a:prstGeom>
          <a:noFill/>
        </p:spPr>
        <p:txBody>
          <a:bodyPr wrap="square">
            <a:spAutoFit/>
          </a:bodyPr>
          <a:lstStyle/>
          <a:p>
            <a:pPr lvl="1" algn="just">
              <a:lnSpc>
                <a:spcPct val="150000"/>
              </a:lnSpc>
            </a:pPr>
            <a:r>
              <a:rPr lang="en-US" sz="2000" b="1" dirty="0">
                <a:latin typeface="Times New Roman" panose="02020603050405020304" pitchFamily="18" charset="0"/>
                <a:cs typeface="Times New Roman" panose="02020603050405020304" pitchFamily="18" charset="0"/>
              </a:rPr>
              <a:t>Successful Implementation:</a:t>
            </a:r>
            <a:r>
              <a:rPr lang="en-US" sz="2000" dirty="0">
                <a:latin typeface="Times New Roman" panose="02020603050405020304" pitchFamily="18" charset="0"/>
                <a:cs typeface="Times New Roman" panose="02020603050405020304" pitchFamily="18" charset="0"/>
              </a:rPr>
              <a:t> Demonstrated the effective use of Data Mining techniques to analyze road accident data and predict accident severity levels.</a:t>
            </a:r>
          </a:p>
          <a:p>
            <a:pPr lvl="1" algn="just">
              <a:lnSpc>
                <a:spcPct val="150000"/>
              </a:lnSpc>
            </a:pPr>
            <a:r>
              <a:rPr lang="en-US" sz="2000" b="1" dirty="0">
                <a:latin typeface="Times New Roman" panose="02020603050405020304" pitchFamily="18" charset="0"/>
                <a:cs typeface="Times New Roman" panose="02020603050405020304" pitchFamily="18" charset="0"/>
              </a:rPr>
              <a:t>Effective Preprocessing:</a:t>
            </a:r>
            <a:r>
              <a:rPr lang="en-US" sz="2000" dirty="0">
                <a:latin typeface="Times New Roman" panose="02020603050405020304" pitchFamily="18" charset="0"/>
                <a:cs typeface="Times New Roman" panose="02020603050405020304" pitchFamily="18" charset="0"/>
              </a:rPr>
              <a:t> Applied data cleaning, integration, and transformation techniques to improve data quality and ensure reliable model performance.</a:t>
            </a:r>
          </a:p>
          <a:p>
            <a:pPr lvl="1" algn="just">
              <a:lnSpc>
                <a:spcPct val="150000"/>
              </a:lnSpc>
            </a:pPr>
            <a:r>
              <a:rPr lang="en-US" sz="2000" b="1" dirty="0">
                <a:latin typeface="Times New Roman" panose="02020603050405020304" pitchFamily="18" charset="0"/>
                <a:cs typeface="Times New Roman" panose="02020603050405020304" pitchFamily="18" charset="0"/>
              </a:rPr>
              <a:t>Accident Classification:</a:t>
            </a:r>
            <a:r>
              <a:rPr lang="en-US" sz="2000" dirty="0">
                <a:latin typeface="Times New Roman" panose="02020603050405020304" pitchFamily="18" charset="0"/>
                <a:cs typeface="Times New Roman" panose="02020603050405020304" pitchFamily="18" charset="0"/>
              </a:rPr>
              <a:t> The J48 algorithm (Decision Tree) successfully categorized accidents into Minor, Moderate, and Severe classes with good accuracy.</a:t>
            </a:r>
          </a:p>
          <a:p>
            <a:pPr lvl="1" algn="just">
              <a:lnSpc>
                <a:spcPct val="150000"/>
              </a:lnSpc>
            </a:pPr>
            <a:r>
              <a:rPr lang="en-US" sz="2000" b="1" dirty="0">
                <a:latin typeface="Times New Roman" panose="02020603050405020304" pitchFamily="18" charset="0"/>
                <a:cs typeface="Times New Roman" panose="02020603050405020304" pitchFamily="18" charset="0"/>
              </a:rPr>
              <a:t>Key Findings:</a:t>
            </a:r>
            <a:r>
              <a:rPr lang="en-US" sz="2000" dirty="0">
                <a:latin typeface="Times New Roman" panose="02020603050405020304" pitchFamily="18" charset="0"/>
                <a:cs typeface="Times New Roman" panose="02020603050405020304" pitchFamily="18" charset="0"/>
              </a:rPr>
              <a:t> Analysis shows that Vehicle Type, Road Type, Time, and Driver Demographics are the most significant factors influencing accident severity.</a:t>
            </a:r>
          </a:p>
          <a:p>
            <a:pPr lvl="1" algn="just">
              <a:lnSpc>
                <a:spcPct val="150000"/>
              </a:lnSpc>
            </a:pPr>
            <a:r>
              <a:rPr lang="en-US" sz="2000" b="1" dirty="0">
                <a:latin typeface="Times New Roman" panose="02020603050405020304" pitchFamily="18" charset="0"/>
                <a:cs typeface="Times New Roman" panose="02020603050405020304" pitchFamily="18" charset="0"/>
              </a:rPr>
              <a:t>Decision Support:</a:t>
            </a:r>
            <a:r>
              <a:rPr lang="en-US" sz="2000" dirty="0">
                <a:latin typeface="Times New Roman" panose="02020603050405020304" pitchFamily="18" charset="0"/>
                <a:cs typeface="Times New Roman" panose="02020603050405020304" pitchFamily="18" charset="0"/>
              </a:rPr>
              <a:t> Provides valuable insights for traffic authorities to take preventive actions, improve road infrastructure, and enhance safety measures.</a:t>
            </a:r>
          </a:p>
          <a:p>
            <a:pPr lvl="1" algn="just">
              <a:lnSpc>
                <a:spcPct val="150000"/>
              </a:lnSpc>
            </a:pPr>
            <a:r>
              <a:rPr lang="en-US" sz="2000" b="1" dirty="0">
                <a:latin typeface="Times New Roman" panose="02020603050405020304" pitchFamily="18" charset="0"/>
                <a:cs typeface="Times New Roman" panose="02020603050405020304" pitchFamily="18" charset="0"/>
              </a:rPr>
              <a:t>Future Scope:</a:t>
            </a:r>
            <a:r>
              <a:rPr lang="en-US" sz="2000" dirty="0">
                <a:latin typeface="Times New Roman" panose="02020603050405020304" pitchFamily="18" charset="0"/>
                <a:cs typeface="Times New Roman" panose="02020603050405020304" pitchFamily="18" charset="0"/>
              </a:rPr>
              <a:t> The system can be extended using real-time data, AI-based prediction models, and integration with smart traffic systems for better accuracy.</a:t>
            </a:r>
          </a:p>
          <a:p>
            <a:pPr algn="just">
              <a:lnSpc>
                <a:spcPct val="150000"/>
              </a:lnSpc>
            </a:pPr>
            <a:endParaRPr lang="en-IN" sz="20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algn="just">
              <a:lnSpc>
                <a:spcPct val="150000"/>
              </a:lnSpc>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3480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3259</TotalTime>
  <Words>1393</Words>
  <Application>Microsoft Office PowerPoint</Application>
  <PresentationFormat>Custom</PresentationFormat>
  <Paragraphs>117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vt:lpstr>
      <vt:lpstr>Palatino Linotype</vt:lpstr>
      <vt:lpstr>Times New Roman</vt:lpstr>
      <vt:lpstr>Office Theme</vt:lpstr>
      <vt:lpstr>Data Mining Project Final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CLUSTERING</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KADALI SWARNA</cp:lastModifiedBy>
  <cp:revision>60</cp:revision>
  <cp:lastPrinted>2025-10-14T18:21:49Z</cp:lastPrinted>
  <dcterms:created xsi:type="dcterms:W3CDTF">2025-10-10T08:28:06Z</dcterms:created>
  <dcterms:modified xsi:type="dcterms:W3CDTF">2026-03-26T06:26:09Z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